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Google Sans Medium"/>
      <p:regular r:id="rId17"/>
      <p:bold r:id="rId18"/>
      <p:italic r:id="rId19"/>
      <p:boldItalic r:id="rId20"/>
    </p:embeddedFont>
    <p:embeddedFont>
      <p:font typeface="Google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873B31-D759-4C72-88C0-AE5C199AA5C8}">
  <a:tblStyle styleId="{E2873B31-D759-4C72-88C0-AE5C199AA5C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font" Target="fonts/GoogleSansMedium-regular.fntdata"/><Relationship Id="rId18" Type="http://schemas.openxmlformats.org/officeDocument/2006/relationships/font" Target="fonts/GoogleSansMedium-bold.fntdata"/><Relationship Id="rId19" Type="http://schemas.openxmlformats.org/officeDocument/2006/relationships/font" Target="fonts/GoogleSansMedium-italic.fntdata"/><Relationship Id="rId20" Type="http://schemas.openxmlformats.org/officeDocument/2006/relationships/font" Target="fonts/GoogleSansMedium-boldItalic.fntdata"/><Relationship Id="rId21" Type="http://schemas.openxmlformats.org/officeDocument/2006/relationships/font" Target="fonts/GoogleSans-regular.fntdata"/><Relationship Id="rId22" Type="http://schemas.openxmlformats.org/officeDocument/2006/relationships/font" Target="fonts/GoogleSans-bold.fntdata"/><Relationship Id="rId23" Type="http://schemas.openxmlformats.org/officeDocument/2006/relationships/font" Target="fonts/GoogleSans-italic.fntdata"/><Relationship Id="rId24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3535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4675" y="33193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sz="1800">
                <a:solidFill>
                  <a:srgbClr val="14233D"/>
                </a:solidFill>
                <a:latin typeface="Segoe UI Semibold"/>
              </a:rPr>
              <a:t>Team Name :  </a:t>
            </a:r>
            <a:r>
              <a:rPr b="0" sz="1800">
                <a:solidFill>
                  <a:srgbClr val="D44E12"/>
                </a:solidFill>
                <a:latin typeface="Segoe UI"/>
              </a:rPr>
              <a:t>Escape the Matrix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8730" y="426921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sz="1250">
                <a:solidFill>
                  <a:srgbClr val="14233D"/>
                </a:solidFill>
                <a:latin typeface="Segoe UI Semibold"/>
              </a:rPr>
              <a:t>Problem Statement :  </a:t>
            </a:r>
            <a:r>
              <a:rPr b="0" sz="1250">
                <a:solidFill>
                  <a:srgbClr val="0F1B2D"/>
                </a:solidFill>
                <a:latin typeface="Segoe UI"/>
              </a:rPr>
              <a:t>PS-4  ·  Route Resilience — Occlusion-Robust Road Extraction &amp; Graph-Theoretic Criticality Analysis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0163" y="37941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sz="1600">
                <a:solidFill>
                  <a:srgbClr val="14233D"/>
                </a:solidFill>
                <a:latin typeface="Segoe UI Semibold"/>
              </a:rPr>
              <a:t>Team Leader Name :  </a:t>
            </a:r>
            <a:r>
              <a:rPr b="0" sz="1600">
                <a:solidFill>
                  <a:srgbClr val="D44E12"/>
                </a:solidFill>
                <a:latin typeface="Segoe UI"/>
              </a:rPr>
              <a:t>Viswas R Bhat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370500" y="70217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-GB" sz="205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Members</a:t>
            </a:r>
            <a:endParaRPr b="0" i="0" sz="205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64" name="Google Shape;64;p14"/>
          <p:cNvGraphicFramePr/>
          <p:nvPr/>
        </p:nvGraphicFramePr>
        <p:xfrm>
          <a:off x="952500" y="132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{E2873B31-D759-4C72-88C0-AE5C199AA5C8}</a:tableStyleId>
              </a:tblPr>
              <a:tblGrid>
                <a:gridCol w="3619500"/>
                <a:gridCol w="3619500"/>
              </a:tblGrid>
              <a:tr h="1794975">
                <a:tc>
                  <a:txBody>
                    <a:bodyPr wrap="squar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sz="1300">
                          <a:solidFill>
                            <a:srgbClr val="F26522"/>
                          </a:solidFill>
                          <a:latin typeface="Segoe UI Semibold"/>
                        </a:rPr>
                        <a:t>Team Leader</a:t>
                      </a:r>
                      <a:endParaRPr sz="1400" u="none" cap="none" strike="noStrike"/>
                    </a:p>
                    <a:p>
                      <a:r>
                        <a:rPr b="1" sz="1150">
                          <a:solidFill>
                            <a:srgbClr val="14233D"/>
                          </a:solidFill>
                          <a:latin typeface="Segoe UI"/>
                        </a:rPr>
                        <a:t>Name: </a:t>
                      </a:r>
                      <a:r>
                        <a:rPr sz="1150">
                          <a:solidFill>
                            <a:srgbClr val="0F1B2D"/>
                          </a:solidFill>
                          <a:latin typeface="Segoe UI"/>
                        </a:rPr>
                        <a:t>Viswas R Bhat</a:t>
                      </a:r>
                    </a:p>
                    <a:p>
                      <a:r>
                        <a:rPr b="1" sz="1050">
                          <a:solidFill>
                            <a:srgbClr val="14233D"/>
                          </a:solidFill>
                          <a:latin typeface="Segoe UI"/>
                        </a:rPr>
                        <a:t>College: </a:t>
                      </a:r>
                      <a:r>
                        <a:rPr sz="1050">
                          <a:solidFill>
                            <a:srgbClr val="5A6472"/>
                          </a:solidFill>
                          <a:latin typeface="Segoe UI"/>
                        </a:rPr>
                        <a:t>BMS College of Engineering</a:t>
                      </a: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sz="1300">
                          <a:solidFill>
                            <a:srgbClr val="F26522"/>
                          </a:solidFill>
                          <a:latin typeface="Segoe UI Semibold"/>
                        </a:rPr>
                        <a:t>Team Member-1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b="1" sz="1150">
                          <a:solidFill>
                            <a:srgbClr val="14233D"/>
                          </a:solidFill>
                          <a:latin typeface="Segoe UI"/>
                        </a:rPr>
                        <a:t>Name: </a:t>
                      </a:r>
                      <a:r>
                        <a:rPr sz="1150">
                          <a:solidFill>
                            <a:srgbClr val="0F1B2D"/>
                          </a:solidFill>
                          <a:latin typeface="Segoe UI"/>
                        </a:rPr>
                        <a:t>Viswas R Bhat</a:t>
                      </a:r>
                    </a:p>
                    <a:p>
                      <a:r>
                        <a:rPr b="1" sz="1050">
                          <a:solidFill>
                            <a:srgbClr val="14233D"/>
                          </a:solidFill>
                          <a:latin typeface="Segoe UI"/>
                        </a:rPr>
                        <a:t>College: </a:t>
                      </a:r>
                      <a:r>
                        <a:rPr sz="1050">
                          <a:solidFill>
                            <a:srgbClr val="5A6472"/>
                          </a:solidFill>
                          <a:latin typeface="Segoe UI"/>
                        </a:rPr>
                        <a:t>BMS College of Engineering</a:t>
                      </a: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4975">
                <a:tc>
                  <a:txBody>
                    <a:bodyPr wrap="squar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sz="1300">
                          <a:solidFill>
                            <a:srgbClr val="F26522"/>
                          </a:solidFill>
                          <a:latin typeface="Segoe UI Semibold"/>
                        </a:rPr>
                        <a:t>Team Member-2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b="1" sz="1150">
                          <a:solidFill>
                            <a:srgbClr val="14233D"/>
                          </a:solidFill>
                          <a:latin typeface="Segoe UI"/>
                        </a:rPr>
                        <a:t>Name: </a:t>
                      </a:r>
                      <a:r>
                        <a:rPr sz="1150">
                          <a:solidFill>
                            <a:srgbClr val="0F1B2D"/>
                          </a:solidFill>
                          <a:latin typeface="Segoe UI"/>
                        </a:rPr>
                        <a:t>Mayank Kumar Singh</a:t>
                      </a:r>
                    </a:p>
                    <a:p>
                      <a:r>
                        <a:rPr b="1" sz="1050">
                          <a:solidFill>
                            <a:srgbClr val="14233D"/>
                          </a:solidFill>
                          <a:latin typeface="Segoe UI"/>
                        </a:rPr>
                        <a:t>College: </a:t>
                      </a:r>
                      <a:r>
                        <a:rPr sz="1050">
                          <a:solidFill>
                            <a:srgbClr val="5A6472"/>
                          </a:solidFill>
                          <a:latin typeface="Segoe UI"/>
                        </a:rPr>
                        <a:t>BMS College of Engineering</a:t>
                      </a: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sz="1300">
                          <a:solidFill>
                            <a:srgbClr val="F26522"/>
                          </a:solidFill>
                          <a:latin typeface="Segoe UI Semibold"/>
                        </a:rPr>
                        <a:t>Team Member-3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b="1" sz="1150">
                          <a:solidFill>
                            <a:srgbClr val="14233D"/>
                          </a:solidFill>
                          <a:latin typeface="Segoe UI"/>
                        </a:rPr>
                        <a:t>Name: </a:t>
                      </a:r>
                      <a:r>
                        <a:rPr sz="1150">
                          <a:solidFill>
                            <a:srgbClr val="0F1B2D"/>
                          </a:solidFill>
                          <a:latin typeface="Segoe UI"/>
                        </a:rPr>
                        <a:t>Dibyansh Raj</a:t>
                      </a:r>
                    </a:p>
                    <a:p>
                      <a:r>
                        <a:rPr b="1" sz="1050">
                          <a:solidFill>
                            <a:srgbClr val="14233D"/>
                          </a:solidFill>
                          <a:latin typeface="Segoe UI"/>
                        </a:rPr>
                        <a:t>College: </a:t>
                      </a:r>
                      <a:r>
                        <a:rPr sz="1050">
                          <a:solidFill>
                            <a:srgbClr val="5A6472"/>
                          </a:solidFill>
                          <a:latin typeface="Segoe UI"/>
                        </a:rPr>
                        <a:t>BMS College of Engineering</a:t>
                      </a: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Rounded Rectangle 69"/>
          <p:cNvSpPr/>
          <p:nvPr/>
        </p:nvSpPr>
        <p:spPr>
          <a:xfrm>
            <a:off x="411480" y="731520"/>
            <a:ext cx="146304" cy="365760"/>
          </a:xfrm>
          <a:prstGeom prst="roundRect">
            <a:avLst>
              <a:gd name="adj" fmla="val 18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" y="676656"/>
            <a:ext cx="8046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4233D"/>
                </a:solidFill>
                <a:latin typeface="Segoe UI Semibold"/>
              </a:rPr>
              <a:t>Opportunity &amp; Unique Selling Proposition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1335024"/>
            <a:ext cx="8321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14233D"/>
                </a:solidFill>
                <a:latin typeface="Segoe UI"/>
              </a:rPr>
              <a:t>The gap:  </a:t>
            </a:r>
            <a:r>
              <a:rPr sz="1250" b="0">
                <a:solidFill>
                  <a:srgbClr val="5A6472"/>
                </a:solidFill>
                <a:latin typeface="Segoe UI"/>
              </a:rPr>
              <a:t>Satellite road extraction suffers “spectral blindness” — tree canopy, building shadows and clouds break the mask, leaving it topologically disconnected and useless for routing, traffic or disaster response.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1938528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2E6FE0"/>
                </a:solidFill>
                <a:latin typeface="Segoe UI Semibold"/>
              </a:rPr>
              <a:t>How we are different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11480" y="2286000"/>
            <a:ext cx="91440" cy="493776"/>
          </a:xfrm>
          <a:prstGeom prst="roundRect">
            <a:avLst>
              <a:gd name="adj" fmla="val 30000"/>
            </a:avLst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2648" y="2267712"/>
            <a:ext cx="39593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233D"/>
                </a:solidFill>
                <a:latin typeface="Segoe UI"/>
              </a:rPr>
              <a:t>Occlusion-robust extraction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Multi-scale inference + canopy-aware hysteresis grow faint roads from confident seeds — recovering streets missed at native scale and segments deep under tree cover.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11480" y="2935224"/>
            <a:ext cx="91440" cy="493776"/>
          </a:xfrm>
          <a:prstGeom prst="roundRect">
            <a:avLst>
              <a:gd name="adj" fmla="val 30000"/>
            </a:avLst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2648" y="2916936"/>
            <a:ext cx="39593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233D"/>
                </a:solidFill>
                <a:latin typeface="Segoe UI"/>
              </a:rPr>
              <a:t>Evidence-based topological healing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Union-Find bridges gaps — endpoint-pairs AND mid-edge T-junctions — only where evidence agrees the road continues: the model's sub-threshold confidence, an Excess-Green canopy mask and trajectory alignment, each tagged high/med/low.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11480" y="3584448"/>
            <a:ext cx="91440" cy="493776"/>
          </a:xfrm>
          <a:prstGeom prst="roundRect">
            <a:avLst>
              <a:gd name="adj" fmla="val 3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2648" y="3566160"/>
            <a:ext cx="39593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233D"/>
                </a:solidFill>
                <a:latin typeface="Segoe UI"/>
              </a:rPr>
              <a:t>Predictive resilience: failure &amp; flood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Weighted-betweenness ablation, DEM flood-submersion and demand-weighted criticality quantify systemic collapse.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11480" y="4233672"/>
            <a:ext cx="91440" cy="493776"/>
          </a:xfrm>
          <a:prstGeom prst="roundRect">
            <a:avLst>
              <a:gd name="adj" fmla="val 30000"/>
            </a:avLst>
          </a:prstGeom>
          <a:solidFill>
            <a:srgbClr val="7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2648" y="4215384"/>
            <a:ext cx="39593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233D"/>
                </a:solidFill>
                <a:latin typeface="Segoe UI"/>
              </a:rPr>
              <a:t>Validated against OSM ground truth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5A6472"/>
                </a:solidFill>
                <a:latin typeface="Segoe UI"/>
              </a:rPr>
              <a:t>A topological-accuracy benchmark scores the graph vs OpenStreetMap: recall, path-length error and routing match.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92040" y="193852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2E6FE0"/>
                </a:solidFill>
                <a:latin typeface="Segoe UI Semibold"/>
              </a:rPr>
              <a:t>Broken mask  →  Healed routable network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892040" y="2286000"/>
            <a:ext cx="1691640" cy="2084831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892040" y="4398264"/>
            <a:ext cx="1691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D63B3B"/>
                </a:solidFill>
                <a:latin typeface="Segoe UI"/>
              </a:rPr>
              <a:t>Standard extraction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5075377" y="2768803"/>
            <a:ext cx="515264" cy="93269"/>
          </a:xfrm>
          <a:prstGeom prst="line">
            <a:avLst/>
          </a:prstGeom>
          <a:ln w="25400">
            <a:solidFill>
              <a:srgbClr val="D63B3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811469" y="2955340"/>
            <a:ext cx="588873" cy="93269"/>
          </a:xfrm>
          <a:prstGeom prst="line">
            <a:avLst/>
          </a:prstGeom>
          <a:ln w="25400">
            <a:solidFill>
              <a:srgbClr val="D63B3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296204" y="3421684"/>
            <a:ext cx="368046" cy="559613"/>
          </a:xfrm>
          <a:prstGeom prst="line">
            <a:avLst/>
          </a:prstGeom>
          <a:ln w="25400">
            <a:solidFill>
              <a:srgbClr val="D63B3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885078" y="3514953"/>
            <a:ext cx="0" cy="652882"/>
          </a:xfrm>
          <a:prstGeom prst="line">
            <a:avLst/>
          </a:prstGeom>
          <a:ln w="25400">
            <a:solidFill>
              <a:srgbClr val="D63B3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075377" y="3888028"/>
            <a:ext cx="368046" cy="37308"/>
          </a:xfrm>
          <a:prstGeom prst="line">
            <a:avLst/>
          </a:prstGeom>
          <a:ln w="25400">
            <a:solidFill>
              <a:srgbClr val="D63B3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032296" y="2675534"/>
            <a:ext cx="29444" cy="652882"/>
          </a:xfrm>
          <a:prstGeom prst="line">
            <a:avLst/>
          </a:prstGeom>
          <a:ln w="25400">
            <a:solidFill>
              <a:srgbClr val="D63B3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7040880" y="2286000"/>
            <a:ext cx="1691640" cy="2084831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040880" y="4398264"/>
            <a:ext cx="1691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12A594"/>
                </a:solidFill>
                <a:latin typeface="Segoe UI"/>
              </a:rPr>
              <a:t>Route Resilience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7371435" y="2768803"/>
            <a:ext cx="515265" cy="93269"/>
          </a:xfrm>
          <a:prstGeom prst="line">
            <a:avLst/>
          </a:prstGeom>
          <a:ln w="25400">
            <a:solidFill>
              <a:srgbClr val="12A5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886700" y="2768803"/>
            <a:ext cx="515264" cy="186537"/>
          </a:xfrm>
          <a:prstGeom prst="line">
            <a:avLst/>
          </a:prstGeom>
          <a:ln w="25400">
            <a:solidFill>
              <a:srgbClr val="12A5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371435" y="2862072"/>
            <a:ext cx="147219" cy="652881"/>
          </a:xfrm>
          <a:prstGeom prst="line">
            <a:avLst/>
          </a:prstGeom>
          <a:ln w="25400">
            <a:solidFill>
              <a:srgbClr val="12A5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886700" y="2768803"/>
            <a:ext cx="73609" cy="783458"/>
          </a:xfrm>
          <a:prstGeom prst="line">
            <a:avLst/>
          </a:prstGeom>
          <a:ln w="25400">
            <a:solidFill>
              <a:srgbClr val="12A5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8328355" y="2955340"/>
            <a:ext cx="73609" cy="932688"/>
          </a:xfrm>
          <a:prstGeom prst="line">
            <a:avLst/>
          </a:prstGeom>
          <a:ln w="25400">
            <a:solidFill>
              <a:srgbClr val="12A5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518654" y="3514953"/>
            <a:ext cx="441655" cy="37308"/>
          </a:xfrm>
          <a:prstGeom prst="line">
            <a:avLst/>
          </a:prstGeom>
          <a:ln w="25400">
            <a:solidFill>
              <a:srgbClr val="12A5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60309" y="3552261"/>
            <a:ext cx="368046" cy="335767"/>
          </a:xfrm>
          <a:prstGeom prst="line">
            <a:avLst/>
          </a:prstGeom>
          <a:ln w="25400">
            <a:solidFill>
              <a:srgbClr val="12A5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445044" y="3514953"/>
            <a:ext cx="73610" cy="559613"/>
          </a:xfrm>
          <a:prstGeom prst="line">
            <a:avLst/>
          </a:prstGeom>
          <a:ln w="25400">
            <a:solidFill>
              <a:srgbClr val="12A5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7445044" y="3552261"/>
            <a:ext cx="515265" cy="522305"/>
          </a:xfrm>
          <a:prstGeom prst="line">
            <a:avLst/>
          </a:prstGeom>
          <a:ln w="25400">
            <a:solidFill>
              <a:srgbClr val="12A5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7334859" y="2825496"/>
            <a:ext cx="73152" cy="73152"/>
          </a:xfrm>
          <a:prstGeom prst="ellipse">
            <a:avLst/>
          </a:prstGeom>
          <a:solidFill>
            <a:srgbClr val="2E6F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850124" y="2732227"/>
            <a:ext cx="73152" cy="73152"/>
          </a:xfrm>
          <a:prstGeom prst="ellipse">
            <a:avLst/>
          </a:prstGeom>
          <a:solidFill>
            <a:srgbClr val="2E6F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365388" y="2918764"/>
            <a:ext cx="73152" cy="73152"/>
          </a:xfrm>
          <a:prstGeom prst="ellipse">
            <a:avLst/>
          </a:prstGeom>
          <a:solidFill>
            <a:srgbClr val="2E6F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482078" y="3478377"/>
            <a:ext cx="73152" cy="73152"/>
          </a:xfrm>
          <a:prstGeom prst="ellipse">
            <a:avLst/>
          </a:prstGeom>
          <a:solidFill>
            <a:srgbClr val="2E6F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907274" y="3499225"/>
            <a:ext cx="106070" cy="10607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291779" y="3851452"/>
            <a:ext cx="73152" cy="73152"/>
          </a:xfrm>
          <a:prstGeom prst="ellipse">
            <a:avLst/>
          </a:prstGeom>
          <a:solidFill>
            <a:srgbClr val="2E6F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408468" y="4037990"/>
            <a:ext cx="73152" cy="73152"/>
          </a:xfrm>
          <a:prstGeom prst="ellipse">
            <a:avLst/>
          </a:prstGeom>
          <a:solidFill>
            <a:srgbClr val="2E6F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6638544" y="3328415"/>
            <a:ext cx="347472" cy="0"/>
          </a:xfrm>
          <a:prstGeom prst="line">
            <a:avLst/>
          </a:prstGeom>
          <a:ln w="31750">
            <a:solidFill>
              <a:srgbClr val="F265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Rounded Rectangle 75"/>
          <p:cNvSpPr/>
          <p:nvPr/>
        </p:nvSpPr>
        <p:spPr>
          <a:xfrm>
            <a:off x="411480" y="731520"/>
            <a:ext cx="146304" cy="365760"/>
          </a:xfrm>
          <a:prstGeom prst="roundRect">
            <a:avLst>
              <a:gd name="adj" fmla="val 18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5800" y="676656"/>
            <a:ext cx="8046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4233D"/>
                </a:solidFill>
                <a:latin typeface="Segoe UI Semibold"/>
              </a:rPr>
              <a:t>Key Features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11480" y="1389888"/>
            <a:ext cx="4023360" cy="768096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57784" y="1609344"/>
            <a:ext cx="329184" cy="329184"/>
          </a:xfrm>
          <a:prstGeom prst="ellipse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1627632"/>
            <a:ext cx="3291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6696" y="1481328"/>
            <a:ext cx="331012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233D"/>
                </a:solidFill>
                <a:latin typeface="Segoe UI"/>
              </a:rPr>
              <a:t>Occlusion-robust segmentation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80" b="0">
                <a:solidFill>
                  <a:srgbClr val="5A6472"/>
                </a:solidFill>
                <a:latin typeface="Segoe UI"/>
              </a:rPr>
              <a:t>U-Net/ResNet34 + multi-scale inference &amp; canopy-aware hysteresis recover roads under canopy, shadow, and below the 1x receptive field.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709160" y="1389888"/>
            <a:ext cx="4023360" cy="768096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855464" y="1609344"/>
            <a:ext cx="329184" cy="329184"/>
          </a:xfrm>
          <a:prstGeom prst="ellipse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83480" y="1627632"/>
            <a:ext cx="3291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94376" y="1481328"/>
            <a:ext cx="331012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233D"/>
                </a:solidFill>
                <a:latin typeface="Segoe UI"/>
              </a:rPr>
              <a:t>Topological reconstruction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80" b="0">
                <a:solidFill>
                  <a:srgbClr val="5A6472"/>
                </a:solidFill>
                <a:latin typeface="Segoe UI"/>
              </a:rPr>
              <a:t>Skeletonize → graph → Union-Find healing yields a routable weighted vector network.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11480" y="2322576"/>
            <a:ext cx="4023360" cy="768096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57784" y="2542032"/>
            <a:ext cx="329184" cy="329184"/>
          </a:xfrm>
          <a:prstGeom prst="ellipse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5800" y="2560320"/>
            <a:ext cx="3291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96696" y="2414016"/>
            <a:ext cx="331012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233D"/>
                </a:solidFill>
                <a:latin typeface="Segoe UI"/>
              </a:rPr>
              <a:t>Evidence-based gap healing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80" b="0">
                <a:solidFill>
                  <a:srgbClr val="5A6472"/>
                </a:solidFill>
                <a:latin typeface="Segoe UI"/>
              </a:rPr>
              <a:t>Endpoint + mid-edge T-junction bridges gated by model soft-confidence, Excess-Green canopy &amp; trajectory — each tagged high/med/low.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709160" y="2322576"/>
            <a:ext cx="4023360" cy="768096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855464" y="2542032"/>
            <a:ext cx="329184" cy="329184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983480" y="2560320"/>
            <a:ext cx="3291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94376" y="2414016"/>
            <a:ext cx="331012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233D"/>
                </a:solidFill>
                <a:latin typeface="Segoe UI"/>
              </a:rPr>
              <a:t>Gatekeeper-node detection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80" b="0">
                <a:solidFill>
                  <a:srgbClr val="5A6472"/>
                </a:solidFill>
                <a:latin typeface="Segoe UI"/>
              </a:rPr>
              <a:t>Weighted betweenness (k-sampled at scale) maps critical intersections &amp; weakest links.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11480" y="3255264"/>
            <a:ext cx="4023360" cy="768096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57784" y="3474720"/>
            <a:ext cx="329184" cy="329184"/>
          </a:xfrm>
          <a:prstGeom prst="ellipse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5800" y="3493008"/>
            <a:ext cx="3291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96696" y="3346704"/>
            <a:ext cx="331012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233D"/>
                </a:solidFill>
                <a:latin typeface="Segoe UI"/>
              </a:rPr>
              <a:t>Flood &amp; failure stress-test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80" b="0">
                <a:solidFill>
                  <a:srgbClr val="5A6472"/>
                </a:solidFill>
                <a:latin typeface="Segoe UI"/>
              </a:rPr>
              <a:t>DEM-driven flood submersion + node ablation drive a live Resilience Index.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709160" y="3255264"/>
            <a:ext cx="4023360" cy="768096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855464" y="3474720"/>
            <a:ext cx="329184" cy="329184"/>
          </a:xfrm>
          <a:prstGeom prst="ellipse">
            <a:avLst/>
          </a:prstGeom>
          <a:solidFill>
            <a:srgbClr val="E09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983480" y="3493008"/>
            <a:ext cx="3291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94376" y="3346704"/>
            <a:ext cx="331012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233D"/>
                </a:solidFill>
                <a:latin typeface="Segoe UI"/>
              </a:rPr>
              <a:t>Demand-weighted criticality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80" b="0">
                <a:solidFill>
                  <a:srgbClr val="5A6472"/>
                </a:solidFill>
                <a:latin typeface="Segoe UI"/>
              </a:rPr>
              <a:t>Betweenness × local road-density surfaces nodes whose failure strands real travel.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11480" y="4187952"/>
            <a:ext cx="4023360" cy="768096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57784" y="4407408"/>
            <a:ext cx="329184" cy="329184"/>
          </a:xfrm>
          <a:prstGeom prst="ellipse">
            <a:avLst/>
          </a:prstGeom>
          <a:solidFill>
            <a:srgbClr val="7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85800" y="4425696"/>
            <a:ext cx="3291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96696" y="4279392"/>
            <a:ext cx="331012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233D"/>
                </a:solidFill>
                <a:latin typeface="Segoe UI"/>
              </a:rPr>
              <a:t>OSM validation benchmark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80" b="0">
                <a:solidFill>
                  <a:srgbClr val="5A6472"/>
                </a:solidFill>
                <a:latin typeface="Segoe UI"/>
              </a:rPr>
              <a:t>Graph scored vs OpenStreetMap: recall, path-length error &amp; routing match.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709160" y="4187952"/>
            <a:ext cx="4023360" cy="768096"/>
          </a:xfrm>
          <a:prstGeom prst="roundRect">
            <a:avLst>
              <a:gd name="adj" fmla="val 7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55464" y="4407408"/>
            <a:ext cx="329184" cy="329184"/>
          </a:xfrm>
          <a:prstGeom prst="ellipse">
            <a:avLst/>
          </a:prstGeom>
          <a:solidFill>
            <a:srgbClr val="1F9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983480" y="4425696"/>
            <a:ext cx="3291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294376" y="4279392"/>
            <a:ext cx="331012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233D"/>
                </a:solidFill>
                <a:latin typeface="Segoe UI"/>
              </a:rPr>
              <a:t>Live interactive dashboard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80" b="0">
                <a:solidFill>
                  <a:srgbClr val="5A6472"/>
                </a:solidFill>
                <a:latin typeface="Segoe UI"/>
              </a:rPr>
              <a:t>Custom Leaflet + Three.js (WebGL) UI — search any place for live GPU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Rounded Rectangle 81"/>
          <p:cNvSpPr/>
          <p:nvPr/>
        </p:nvSpPr>
        <p:spPr>
          <a:xfrm>
            <a:off x="411480" y="731520"/>
            <a:ext cx="146304" cy="365760"/>
          </a:xfrm>
          <a:prstGeom prst="roundRect">
            <a:avLst>
              <a:gd name="adj" fmla="val 18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85800" y="676656"/>
            <a:ext cx="8046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4233D"/>
                </a:solidFill>
                <a:latin typeface="Segoe UI Semibold"/>
              </a:rPr>
              <a:t>Process Flow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" y="1152144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A6472"/>
                </a:solidFill>
                <a:latin typeface="Segoe UI"/>
              </a:rPr>
              <a:t>Imagery → extraction → skeleton/graph → canopy-aware healing → resilience → OSM validation → dashboard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636621" y="1655064"/>
            <a:ext cx="5870757" cy="336499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86" name="Picture 85" descr="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349" y="1764792"/>
            <a:ext cx="5651301" cy="31455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Rounded Rectangle 87"/>
          <p:cNvSpPr/>
          <p:nvPr/>
        </p:nvSpPr>
        <p:spPr>
          <a:xfrm>
            <a:off x="411480" y="731520"/>
            <a:ext cx="146304" cy="365760"/>
          </a:xfrm>
          <a:prstGeom prst="roundRect">
            <a:avLst>
              <a:gd name="adj" fmla="val 18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85800" y="676656"/>
            <a:ext cx="8046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4233D"/>
                </a:solidFill>
                <a:latin typeface="Segoe UI Semibold"/>
              </a:rPr>
              <a:t>Live Dashboard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" y="1152144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A6472"/>
                </a:solidFill>
                <a:latin typeface="Segoe UI"/>
              </a:rPr>
              <a:t>Premium dark UI · Leaflet + Three.js (WebGL) · live GPU backend · search any place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11480" y="1664208"/>
            <a:ext cx="8321040" cy="3291839"/>
          </a:xfrm>
          <a:prstGeom prst="roundRect">
            <a:avLst>
              <a:gd name="adj" fmla="val 3000"/>
            </a:avLst>
          </a:prstGeom>
          <a:solidFill>
            <a:srgbClr val="0B0E14"/>
          </a:solidFill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0080" y="1773936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E6BD"/>
                </a:solidFill>
                <a:latin typeface="Segoe UI Semibold"/>
              </a:rPr>
              <a:t>◉  ROUTE RESILIENCE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89320" y="181051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B97A7"/>
                </a:solidFill>
                <a:latin typeface="Segoe UI"/>
              </a:rPr>
              <a:t>ISRO BAH 2026 · PS-4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0080" y="2139696"/>
            <a:ext cx="1760220" cy="731520"/>
          </a:xfrm>
          <a:prstGeom prst="roundRect">
            <a:avLst>
              <a:gd name="adj" fmla="val 10000"/>
            </a:avLst>
          </a:prstGeom>
          <a:solidFill>
            <a:srgbClr val="1A2233"/>
          </a:solidFill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49808" y="2212848"/>
            <a:ext cx="15773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8B97A7"/>
                </a:solidFill>
                <a:latin typeface="Segoe UI"/>
              </a:rPr>
              <a:t>RESILIENCE INDEX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9808" y="2377439"/>
            <a:ext cx="15773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00E6BD"/>
                </a:solidFill>
                <a:latin typeface="Consolas"/>
              </a:rPr>
              <a:t>0.78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49808" y="2688336"/>
            <a:ext cx="15773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00E6BD"/>
                </a:solidFill>
                <a:latin typeface="Segoe UI"/>
              </a:rPr>
              <a:t>HSR Layout · stable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674620" y="2139696"/>
            <a:ext cx="1760220" cy="731520"/>
          </a:xfrm>
          <a:prstGeom prst="roundRect">
            <a:avLst>
              <a:gd name="adj" fmla="val 10000"/>
            </a:avLst>
          </a:prstGeom>
          <a:solidFill>
            <a:srgbClr val="1A2233"/>
          </a:solidFill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84348" y="2212848"/>
            <a:ext cx="15773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8B97A7"/>
                </a:solidFill>
                <a:latin typeface="Segoe UI"/>
              </a:rPr>
              <a:t>ROAD NODES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84348" y="2377439"/>
            <a:ext cx="15773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00E6BD"/>
                </a:solidFill>
                <a:latin typeface="Consolas"/>
              </a:rPr>
              <a:t>187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84348" y="2688336"/>
            <a:ext cx="15773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00E6BD"/>
                </a:solidFill>
                <a:latin typeface="Segoe UI"/>
              </a:rPr>
              <a:t>healed graph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709160" y="2139696"/>
            <a:ext cx="1760220" cy="731520"/>
          </a:xfrm>
          <a:prstGeom prst="roundRect">
            <a:avLst>
              <a:gd name="adj" fmla="val 10000"/>
            </a:avLst>
          </a:prstGeom>
          <a:solidFill>
            <a:srgbClr val="1A2233"/>
          </a:solidFill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818888" y="2212848"/>
            <a:ext cx="15773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8B97A7"/>
                </a:solidFill>
                <a:latin typeface="Segoe UI"/>
              </a:rPr>
              <a:t>CONNECTIVITY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818888" y="2377439"/>
            <a:ext cx="15773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00E6BD"/>
                </a:solidFill>
                <a:latin typeface="Consolas"/>
              </a:rPr>
              <a:t>90%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818888" y="2688336"/>
            <a:ext cx="15773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00E6BD"/>
                </a:solidFill>
                <a:latin typeface="Segoe UI"/>
              </a:rPr>
              <a:t>LCC post-healing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743700" y="2139696"/>
            <a:ext cx="1760220" cy="731520"/>
          </a:xfrm>
          <a:prstGeom prst="roundRect">
            <a:avLst>
              <a:gd name="adj" fmla="val 10000"/>
            </a:avLst>
          </a:prstGeom>
          <a:solidFill>
            <a:srgbClr val="1A2233"/>
          </a:solidFill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853428" y="2212848"/>
            <a:ext cx="15773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8B97A7"/>
                </a:solidFill>
                <a:latin typeface="Segoe UI"/>
              </a:rPr>
              <a:t>OSM RECALL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53428" y="2377439"/>
            <a:ext cx="15773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C9A84C"/>
                </a:solidFill>
                <a:latin typeface="Consolas"/>
              </a:rPr>
              <a:t>65%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853428" y="2688336"/>
            <a:ext cx="15773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C9A84C"/>
                </a:solidFill>
                <a:latin typeface="Segoe UI"/>
              </a:rPr>
              <a:t>vs ground truth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40080" y="3017520"/>
            <a:ext cx="4892040" cy="1773936"/>
          </a:xfrm>
          <a:prstGeom prst="roundRect">
            <a:avLst>
              <a:gd name="adj" fmla="val 4000"/>
            </a:avLst>
          </a:prstGeom>
          <a:solidFill>
            <a:srgbClr val="0E1320"/>
          </a:solidFill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49808" y="3072384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8B97A7"/>
                </a:solidFill>
                <a:latin typeface="Segoe UI"/>
              </a:rPr>
              <a:t>CRITICALITY MAP · HSR Layout, Bengaluru</a:t>
            </a:r>
          </a:p>
        </p:txBody>
      </p:sp>
      <p:cxnSp>
        <p:nvCxnSpPr>
          <p:cNvPr id="112" name="Connector 111"/>
          <p:cNvCxnSpPr/>
          <p:nvPr/>
        </p:nvCxnSpPr>
        <p:spPr>
          <a:xfrm flipV="1">
            <a:off x="1275588" y="3486424"/>
            <a:ext cx="1357884" cy="105339"/>
          </a:xfrm>
          <a:prstGeom prst="line">
            <a:avLst/>
          </a:prstGeom>
          <a:ln w="20320">
            <a:solidFill>
              <a:srgbClr val="00E6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2633472" y="3486424"/>
            <a:ext cx="1448409" cy="131673"/>
          </a:xfrm>
          <a:prstGeom prst="line">
            <a:avLst/>
          </a:prstGeom>
          <a:ln w="30480">
            <a:solidFill>
              <a:srgbClr val="FFB3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4081881" y="3618097"/>
            <a:ext cx="905256" cy="237013"/>
          </a:xfrm>
          <a:prstGeom prst="line">
            <a:avLst/>
          </a:prstGeom>
          <a:ln w="38100">
            <a:solidFill>
              <a:srgbClr val="FF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275588" y="3591763"/>
            <a:ext cx="452628" cy="395020"/>
          </a:xfrm>
          <a:prstGeom prst="line">
            <a:avLst/>
          </a:prstGeom>
          <a:ln w="20320">
            <a:solidFill>
              <a:srgbClr val="00E6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2633472" y="3486424"/>
            <a:ext cx="452628" cy="434523"/>
          </a:xfrm>
          <a:prstGeom prst="line">
            <a:avLst/>
          </a:prstGeom>
          <a:ln w="30480">
            <a:solidFill>
              <a:srgbClr val="FFB3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4081881" y="3618097"/>
            <a:ext cx="271577" cy="434523"/>
          </a:xfrm>
          <a:prstGeom prst="line">
            <a:avLst/>
          </a:prstGeom>
          <a:ln w="38100">
            <a:solidFill>
              <a:srgbClr val="FF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728216" y="3920947"/>
            <a:ext cx="1357884" cy="65836"/>
          </a:xfrm>
          <a:prstGeom prst="line">
            <a:avLst/>
          </a:prstGeom>
          <a:ln w="30480">
            <a:solidFill>
              <a:srgbClr val="FFB3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086100" y="3920947"/>
            <a:ext cx="1267358" cy="131673"/>
          </a:xfrm>
          <a:prstGeom prst="line">
            <a:avLst/>
          </a:prstGeom>
          <a:ln w="38100">
            <a:solidFill>
              <a:srgbClr val="FF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4353458" y="3855110"/>
            <a:ext cx="633679" cy="197510"/>
          </a:xfrm>
          <a:prstGeom prst="line">
            <a:avLst/>
          </a:prstGeom>
          <a:ln w="30480">
            <a:solidFill>
              <a:srgbClr val="FFB3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728216" y="3986783"/>
            <a:ext cx="543153" cy="421356"/>
          </a:xfrm>
          <a:prstGeom prst="line">
            <a:avLst/>
          </a:prstGeom>
          <a:ln w="20320">
            <a:solidFill>
              <a:srgbClr val="00E6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086100" y="3920947"/>
            <a:ext cx="543153" cy="460857"/>
          </a:xfrm>
          <a:prstGeom prst="line">
            <a:avLst/>
          </a:prstGeom>
          <a:ln w="30480">
            <a:solidFill>
              <a:srgbClr val="FFB3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2271369" y="4381804"/>
            <a:ext cx="1357884" cy="26335"/>
          </a:xfrm>
          <a:prstGeom prst="line">
            <a:avLst/>
          </a:prstGeom>
          <a:ln w="20320">
            <a:solidFill>
              <a:srgbClr val="00E6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629253" y="4381804"/>
            <a:ext cx="1176833" cy="65837"/>
          </a:xfrm>
          <a:prstGeom prst="line">
            <a:avLst/>
          </a:prstGeom>
          <a:ln w="20320">
            <a:solidFill>
              <a:srgbClr val="00E6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4353458" y="4052620"/>
            <a:ext cx="452628" cy="395021"/>
          </a:xfrm>
          <a:prstGeom prst="line">
            <a:avLst/>
          </a:prstGeom>
          <a:ln w="30480">
            <a:solidFill>
              <a:srgbClr val="FFB3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1244498" y="3560673"/>
            <a:ext cx="62179" cy="62179"/>
          </a:xfrm>
          <a:prstGeom prst="ellipse">
            <a:avLst/>
          </a:prstGeom>
          <a:solidFill>
            <a:srgbClr val="00E6BD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2602382" y="3455334"/>
            <a:ext cx="62179" cy="62179"/>
          </a:xfrm>
          <a:prstGeom prst="ellipse">
            <a:avLst/>
          </a:prstGeom>
          <a:solidFill>
            <a:srgbClr val="00E6BD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039819" y="3576035"/>
            <a:ext cx="84124" cy="84124"/>
          </a:xfrm>
          <a:prstGeom prst="ellipse">
            <a:avLst/>
          </a:prstGeom>
          <a:solidFill>
            <a:srgbClr val="FFB347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956048" y="3824020"/>
            <a:ext cx="62179" cy="62179"/>
          </a:xfrm>
          <a:prstGeom prst="ellipse">
            <a:avLst/>
          </a:prstGeom>
          <a:solidFill>
            <a:srgbClr val="00E6BD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697126" y="3955694"/>
            <a:ext cx="62179" cy="62179"/>
          </a:xfrm>
          <a:prstGeom prst="ellipse">
            <a:avLst/>
          </a:prstGeom>
          <a:solidFill>
            <a:srgbClr val="00E6BD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3031236" y="3866083"/>
            <a:ext cx="109728" cy="109728"/>
          </a:xfrm>
          <a:prstGeom prst="ellipse">
            <a:avLst/>
          </a:prstGeom>
          <a:solidFill>
            <a:srgbClr val="FF4D4D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311396" y="4010558"/>
            <a:ext cx="84124" cy="84124"/>
          </a:xfrm>
          <a:prstGeom prst="ellipse">
            <a:avLst/>
          </a:prstGeom>
          <a:solidFill>
            <a:srgbClr val="FFB347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2240280" y="4377049"/>
            <a:ext cx="62179" cy="62179"/>
          </a:xfrm>
          <a:prstGeom prst="ellipse">
            <a:avLst/>
          </a:prstGeom>
          <a:solidFill>
            <a:srgbClr val="00E6BD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3598164" y="4350715"/>
            <a:ext cx="62179" cy="62179"/>
          </a:xfrm>
          <a:prstGeom prst="ellipse">
            <a:avLst/>
          </a:prstGeom>
          <a:solidFill>
            <a:srgbClr val="00E6BD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4774996" y="4416552"/>
            <a:ext cx="62179" cy="62179"/>
          </a:xfrm>
          <a:prstGeom prst="ellipse">
            <a:avLst/>
          </a:prstGeom>
          <a:solidFill>
            <a:srgbClr val="00E6BD"/>
          </a:solidFill>
          <a:ln w="9525">
            <a:solidFill>
              <a:srgbClr val="0B0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976372" y="3792931"/>
            <a:ext cx="21945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760720" y="3017520"/>
            <a:ext cx="2743199" cy="1773936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888736" y="3090672"/>
            <a:ext cx="248716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C9A84C"/>
                </a:solidFill>
                <a:latin typeface="Segoe UI"/>
              </a:rPr>
              <a:t>GATEKEEPER NODES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870448" y="3310127"/>
            <a:ext cx="2523743" cy="237744"/>
          </a:xfrm>
          <a:prstGeom prst="roundRect">
            <a:avLst>
              <a:gd name="adj" fmla="val 20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80176" y="3310127"/>
            <a:ext cx="192023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E8EDF2"/>
                </a:solidFill>
                <a:latin typeface="Segoe UI"/>
              </a:rPr>
              <a:t>#1  N-78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845552" y="3310127"/>
            <a:ext cx="548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FF4D4D"/>
                </a:solidFill>
                <a:latin typeface="Consolas"/>
              </a:rPr>
              <a:t>0.390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870448" y="3579875"/>
            <a:ext cx="2523743" cy="237744"/>
          </a:xfrm>
          <a:prstGeom prst="roundRect">
            <a:avLst>
              <a:gd name="adj" fmla="val 20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980176" y="3579875"/>
            <a:ext cx="192023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E8EDF2"/>
                </a:solidFill>
                <a:latin typeface="Segoe UI"/>
              </a:rPr>
              <a:t>#2  N-73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845552" y="3579875"/>
            <a:ext cx="548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FF4D4D"/>
                </a:solidFill>
                <a:latin typeface="Consolas"/>
              </a:rPr>
              <a:t>0.312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870448" y="3849624"/>
            <a:ext cx="2523743" cy="237744"/>
          </a:xfrm>
          <a:prstGeom prst="roundRect">
            <a:avLst>
              <a:gd name="adj" fmla="val 20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980176" y="3849624"/>
            <a:ext cx="192023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E8EDF2"/>
                </a:solidFill>
                <a:latin typeface="Segoe UI"/>
              </a:rPr>
              <a:t>#3  N-74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845552" y="3849624"/>
            <a:ext cx="548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FFB347"/>
                </a:solidFill>
                <a:latin typeface="Consolas"/>
              </a:rPr>
              <a:t>0.284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5870448" y="4119372"/>
            <a:ext cx="2523743" cy="237744"/>
          </a:xfrm>
          <a:prstGeom prst="roundRect">
            <a:avLst>
              <a:gd name="adj" fmla="val 20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980176" y="4119372"/>
            <a:ext cx="192023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E8EDF2"/>
                </a:solidFill>
                <a:latin typeface="Segoe UI"/>
              </a:rPr>
              <a:t>#4  N-69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845552" y="4119372"/>
            <a:ext cx="548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FFB347"/>
                </a:solidFill>
                <a:latin typeface="Consolas"/>
              </a:rPr>
              <a:t>0.267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870448" y="4389120"/>
            <a:ext cx="2523743" cy="237744"/>
          </a:xfrm>
          <a:prstGeom prst="roundRect">
            <a:avLst>
              <a:gd name="adj" fmla="val 20000"/>
            </a:avLst>
          </a:prstGeom>
          <a:solidFill>
            <a:srgbClr val="1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980176" y="4389120"/>
            <a:ext cx="192023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E8EDF2"/>
                </a:solidFill>
                <a:latin typeface="Segoe UI"/>
              </a:rPr>
              <a:t>#5  N-76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845552" y="4389120"/>
            <a:ext cx="548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00E6BD"/>
                </a:solidFill>
                <a:latin typeface="Consolas"/>
              </a:rPr>
              <a:t>0.265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Rounded Rectangle 93"/>
          <p:cNvSpPr/>
          <p:nvPr/>
        </p:nvSpPr>
        <p:spPr>
          <a:xfrm>
            <a:off x="411480" y="731520"/>
            <a:ext cx="146304" cy="365760"/>
          </a:xfrm>
          <a:prstGeom prst="roundRect">
            <a:avLst>
              <a:gd name="adj" fmla="val 18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5800" y="676656"/>
            <a:ext cx="8046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4233D"/>
                </a:solidFill>
                <a:latin typeface="Segoe UI Semibold"/>
              </a:rPr>
              <a:t>Solution Architecture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11480" y="1408176"/>
            <a:ext cx="8321040" cy="420624"/>
          </a:xfrm>
          <a:prstGeom prst="roundRect">
            <a:avLst>
              <a:gd name="adj" fmla="val 10000"/>
            </a:avLst>
          </a:prstGeom>
          <a:solidFill>
            <a:srgbClr val="14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26522"/>
                </a:solidFill>
                <a:latin typeface="Segoe UI"/>
              </a:rPr>
              <a:t>INPUTS   </a:t>
            </a:r>
            <a:r>
              <a:rPr sz="980" b="0">
                <a:solidFill>
                  <a:srgbClr val="FFFFFF"/>
                </a:solidFill>
                <a:latin typeface="Segoe UI"/>
              </a:rPr>
              <a:t>DeepGlobe (training)  ·  Esri World Imagery ~0.6 m (live)  ·  AWS DEM  ·  OpenStreetMap (validation)  ·  NIR-ready for LISS-IV / Cartosat-3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11480" y="2121408"/>
            <a:ext cx="1415491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12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411480" y="2121408"/>
            <a:ext cx="1415491" cy="457200"/>
          </a:xfrm>
          <a:prstGeom prst="roundRect">
            <a:avLst>
              <a:gd name="adj" fmla="val 6000"/>
            </a:avLst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P1  </a:t>
            </a:r>
            <a:r>
              <a:rPr sz="1050" b="1">
                <a:solidFill>
                  <a:srgbClr val="FFFFFF"/>
                </a:solidFill>
                <a:latin typeface="Segoe UI"/>
              </a:rPr>
              <a:t>Segmentation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2920" y="2670048"/>
            <a:ext cx="12326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860" b="0">
                <a:solidFill>
                  <a:srgbClr val="14233D"/>
                </a:solidFill>
                <a:latin typeface="Segoe UI"/>
              </a:rPr>
              <a:t>U-Net + ResNet34 (SMP)</a:t>
            </a:r>
          </a:p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860" b="0">
                <a:solidFill>
                  <a:srgbClr val="14233D"/>
                </a:solidFill>
                <a:latin typeface="Segoe UI"/>
              </a:rPr>
              <a:t>Canopy-aware hysteresis</a:t>
            </a:r>
          </a:p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860" b="0">
                <a:solidFill>
                  <a:srgbClr val="14233D"/>
                </a:solidFill>
                <a:latin typeface="Segoe UI"/>
              </a:rPr>
              <a:t>D4 TTA · occlusion aug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576072" y="3575304"/>
            <a:ext cx="1086307" cy="0"/>
          </a:xfrm>
          <a:prstGeom prst="line">
            <a:avLst/>
          </a:prstGeom>
          <a:ln w="12700">
            <a:solidFill>
              <a:srgbClr val="D5D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484632" y="3611880"/>
            <a:ext cx="1269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40" b="1">
                <a:solidFill>
                  <a:srgbClr val="12A594"/>
                </a:solidFill>
                <a:latin typeface="Segoe UI"/>
              </a:rPr>
              <a:t>▸ </a:t>
            </a:r>
            <a:r>
              <a:rPr sz="840" b="1">
                <a:solidFill>
                  <a:srgbClr val="12A594"/>
                </a:solidFill>
                <a:latin typeface="Segoe UI"/>
              </a:rPr>
              <a:t>road mask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137867" y="2121408"/>
            <a:ext cx="1415491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E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2137867" y="2121408"/>
            <a:ext cx="1415491" cy="457200"/>
          </a:xfrm>
          <a:prstGeom prst="roundRect">
            <a:avLst>
              <a:gd name="adj" fmla="val 6000"/>
            </a:avLst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P2  </a:t>
            </a:r>
            <a:r>
              <a:rPr sz="1050" b="1">
                <a:solidFill>
                  <a:srgbClr val="FFFFFF"/>
                </a:solidFill>
                <a:latin typeface="Segoe UI"/>
              </a:rPr>
              <a:t>Skeleton → Graph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229307" y="2670048"/>
            <a:ext cx="12326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860" b="0">
                <a:solidFill>
                  <a:srgbClr val="14233D"/>
                </a:solidFill>
                <a:latin typeface="Segoe UI"/>
              </a:rPr>
              <a:t>Zhang-Suen thinning</a:t>
            </a:r>
          </a:p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860" b="0">
                <a:solidFill>
                  <a:srgbClr val="14233D"/>
                </a:solidFill>
                <a:latin typeface="Segoe UI"/>
              </a:rPr>
              <a:t>sknw graph + spur prune</a:t>
            </a:r>
          </a:p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860" b="0">
                <a:solidFill>
                  <a:srgbClr val="14233D"/>
                </a:solidFill>
                <a:latin typeface="Segoe UI"/>
              </a:rPr>
              <a:t>length-weighted edges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2302459" y="3575304"/>
            <a:ext cx="1086307" cy="0"/>
          </a:xfrm>
          <a:prstGeom prst="line">
            <a:avLst/>
          </a:prstGeom>
          <a:ln w="12700">
            <a:solidFill>
              <a:srgbClr val="D5D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2211019" y="3611880"/>
            <a:ext cx="1269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40" b="1">
                <a:solidFill>
                  <a:srgbClr val="2E6FE0"/>
                </a:solidFill>
                <a:latin typeface="Segoe UI"/>
              </a:rPr>
              <a:t>▸ </a:t>
            </a:r>
            <a:r>
              <a:rPr sz="840" b="1">
                <a:solidFill>
                  <a:srgbClr val="2E6FE0"/>
                </a:solidFill>
                <a:latin typeface="Segoe UI"/>
              </a:rPr>
              <a:t>raw graph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864254" y="2121408"/>
            <a:ext cx="1415491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7A5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3864254" y="2121408"/>
            <a:ext cx="1415491" cy="457200"/>
          </a:xfrm>
          <a:prstGeom prst="roundRect">
            <a:avLst>
              <a:gd name="adj" fmla="val 6000"/>
            </a:avLst>
          </a:prstGeom>
          <a:solidFill>
            <a:srgbClr val="7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P3  </a:t>
            </a:r>
            <a:r>
              <a:rPr sz="1050" b="1">
                <a:solidFill>
                  <a:srgbClr val="FFFFFF"/>
                </a:solidFill>
                <a:latin typeface="Segoe UI"/>
              </a:rPr>
              <a:t>Canopy Healing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955694" y="2670048"/>
            <a:ext cx="12326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860" b="0">
                <a:solidFill>
                  <a:srgbClr val="14233D"/>
                </a:solidFill>
                <a:latin typeface="Segoe UI"/>
              </a:rPr>
              <a:t>Union-Find + Excess-Green</a:t>
            </a:r>
          </a:p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860" b="0">
                <a:solidFill>
                  <a:srgbClr val="14233D"/>
                </a:solidFill>
                <a:latin typeface="Segoe UI"/>
              </a:rPr>
              <a:t>Trajectory alignment</a:t>
            </a:r>
          </a:p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860" b="0">
                <a:solidFill>
                  <a:srgbClr val="14233D"/>
                </a:solidFill>
                <a:latin typeface="Segoe UI"/>
              </a:rPr>
              <a:t>Confidence-tiered bridges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4028846" y="3575304"/>
            <a:ext cx="1086307" cy="0"/>
          </a:xfrm>
          <a:prstGeom prst="line">
            <a:avLst/>
          </a:prstGeom>
          <a:ln w="12700">
            <a:solidFill>
              <a:srgbClr val="D5D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3937406" y="3611880"/>
            <a:ext cx="1269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40" b="1">
                <a:solidFill>
                  <a:srgbClr val="7A5C9E"/>
                </a:solidFill>
                <a:latin typeface="Segoe UI"/>
              </a:rPr>
              <a:t>▸ </a:t>
            </a:r>
            <a:r>
              <a:rPr sz="840" b="1">
                <a:solidFill>
                  <a:srgbClr val="7A5C9E"/>
                </a:solidFill>
                <a:latin typeface="Segoe UI"/>
              </a:rPr>
              <a:t>routable graph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590641" y="2121408"/>
            <a:ext cx="1415491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F26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5590641" y="2121408"/>
            <a:ext cx="1415491" cy="457200"/>
          </a:xfrm>
          <a:prstGeom prst="roundRect">
            <a:avLst>
              <a:gd name="adj" fmla="val 6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P4  </a:t>
            </a:r>
            <a:r>
              <a:rPr sz="1050" b="1">
                <a:solidFill>
                  <a:srgbClr val="FFFFFF"/>
                </a:solidFill>
                <a:latin typeface="Segoe UI"/>
              </a:rPr>
              <a:t>Resilience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82081" y="2670048"/>
            <a:ext cx="12326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860" b="0">
                <a:solidFill>
                  <a:srgbClr val="14233D"/>
                </a:solidFill>
                <a:latin typeface="Segoe UI"/>
              </a:rPr>
              <a:t>Betweenness (k-sampled)</a:t>
            </a:r>
          </a:p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860" b="0">
                <a:solidFill>
                  <a:srgbClr val="14233D"/>
                </a:solidFill>
                <a:latin typeface="Segoe UI"/>
              </a:rPr>
              <a:t>Flood-DEM + ablation</a:t>
            </a:r>
          </a:p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860" b="0">
                <a:solidFill>
                  <a:srgbClr val="14233D"/>
                </a:solidFill>
                <a:latin typeface="Segoe UI"/>
              </a:rPr>
              <a:t>Demand-weighted crit.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5755233" y="3575304"/>
            <a:ext cx="1086307" cy="0"/>
          </a:xfrm>
          <a:prstGeom prst="line">
            <a:avLst/>
          </a:prstGeom>
          <a:ln w="12700">
            <a:solidFill>
              <a:srgbClr val="D5D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5663793" y="3611880"/>
            <a:ext cx="1269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40" b="1">
                <a:solidFill>
                  <a:srgbClr val="F26522"/>
                </a:solidFill>
                <a:latin typeface="Segoe UI"/>
              </a:rPr>
              <a:t>▸ </a:t>
            </a:r>
            <a:r>
              <a:rPr sz="840" b="1">
                <a:solidFill>
                  <a:srgbClr val="F26522"/>
                </a:solidFill>
                <a:latin typeface="Segoe UI"/>
              </a:rPr>
              <a:t>criticality + RI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7317028" y="2121408"/>
            <a:ext cx="1415491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1F9B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7317028" y="2121408"/>
            <a:ext cx="1415491" cy="457200"/>
          </a:xfrm>
          <a:prstGeom prst="roundRect">
            <a:avLst>
              <a:gd name="adj" fmla="val 6000"/>
            </a:avLst>
          </a:prstGeom>
          <a:solidFill>
            <a:srgbClr val="1F9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P5  </a:t>
            </a:r>
            <a:r>
              <a:rPr sz="1050" b="1">
                <a:solidFill>
                  <a:srgbClr val="FFFFFF"/>
                </a:solidFill>
                <a:latin typeface="Segoe UI"/>
              </a:rPr>
              <a:t>Live Dashboard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408468" y="2670048"/>
            <a:ext cx="12326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860" b="0">
                <a:solidFill>
                  <a:srgbClr val="14233D"/>
                </a:solidFill>
                <a:latin typeface="Segoe UI"/>
              </a:rPr>
              <a:t>Leaflet + Three.js (WebGL)</a:t>
            </a:r>
          </a:p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860" b="0">
                <a:solidFill>
                  <a:srgbClr val="14233D"/>
                </a:solidFill>
                <a:latin typeface="Segoe UI"/>
              </a:rPr>
              <a:t>ECharts · /api/analyze</a:t>
            </a:r>
          </a:p>
          <a:p>
            <a:pPr algn="ctr">
              <a:lnSpc>
                <a:spcPct val="102000"/>
              </a:lnSpc>
              <a:spcAft>
                <a:spcPts val="200"/>
              </a:spcAft>
            </a:pPr>
            <a:r>
              <a:rPr sz="860" b="0">
                <a:solidFill>
                  <a:srgbClr val="14233D"/>
                </a:solidFill>
                <a:latin typeface="Segoe UI"/>
              </a:rPr>
              <a:t>stdlib Python server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7481620" y="3575304"/>
            <a:ext cx="1086308" cy="0"/>
          </a:xfrm>
          <a:prstGeom prst="line">
            <a:avLst/>
          </a:prstGeom>
          <a:ln w="12700">
            <a:solidFill>
              <a:srgbClr val="D5D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7390180" y="3611880"/>
            <a:ext cx="1269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40" b="1">
                <a:solidFill>
                  <a:srgbClr val="1F9BD1"/>
                </a:solidFill>
                <a:latin typeface="Segoe UI"/>
              </a:rPr>
              <a:t>▸ </a:t>
            </a:r>
            <a:r>
              <a:rPr sz="840" b="1">
                <a:solidFill>
                  <a:srgbClr val="1F9BD1"/>
                </a:solidFill>
                <a:latin typeface="Segoe UI"/>
              </a:rPr>
              <a:t>live planner UI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1845259" y="3058668"/>
            <a:ext cx="274320" cy="0"/>
          </a:xfrm>
          <a:prstGeom prst="line">
            <a:avLst/>
          </a:prstGeom>
          <a:ln w="2857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571646" y="3058668"/>
            <a:ext cx="274320" cy="0"/>
          </a:xfrm>
          <a:prstGeom prst="line">
            <a:avLst/>
          </a:prstGeom>
          <a:ln w="2857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5298033" y="3058668"/>
            <a:ext cx="274320" cy="0"/>
          </a:xfrm>
          <a:prstGeom prst="line">
            <a:avLst/>
          </a:prstGeom>
          <a:ln w="2857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024420" y="3058668"/>
            <a:ext cx="274320" cy="0"/>
          </a:xfrm>
          <a:prstGeom prst="line">
            <a:avLst/>
          </a:prstGeom>
          <a:ln w="2857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411480" y="4142232"/>
            <a:ext cx="8321040" cy="36576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2A594"/>
                </a:solidFill>
                <a:latin typeface="Segoe UI"/>
              </a:rPr>
              <a:t>VALIDATED   </a:t>
            </a:r>
            <a:r>
              <a:rPr sz="900" b="0">
                <a:solidFill>
                  <a:srgbClr val="14233D"/>
                </a:solidFill>
                <a:latin typeface="Segoe UI"/>
              </a:rPr>
              <a:t>Held-out DeepGlobe (934 tiles): IoU 0.605 · Relaxed-IoU 0.770   ·   vs OpenStreetMap: recall 65%, median path-error 7.5%   ·   healing LCC 77%→90%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ounded Rectangle 99"/>
          <p:cNvSpPr/>
          <p:nvPr/>
        </p:nvSpPr>
        <p:spPr>
          <a:xfrm>
            <a:off x="411480" y="731520"/>
            <a:ext cx="146304" cy="365760"/>
          </a:xfrm>
          <a:prstGeom prst="roundRect">
            <a:avLst>
              <a:gd name="adj" fmla="val 18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85800" y="676656"/>
            <a:ext cx="8046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4233D"/>
                </a:solidFill>
                <a:latin typeface="Segoe UI Semibold"/>
              </a:rPr>
              <a:t>Technology Stack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11480" y="1389888"/>
            <a:ext cx="1783080" cy="487680"/>
          </a:xfrm>
          <a:prstGeom prst="roundRect">
            <a:avLst>
              <a:gd name="adj" fmla="val 10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39496" y="1389888"/>
            <a:ext cx="1581912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Data &amp; Imagery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395728" y="1487424"/>
            <a:ext cx="630478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441448" y="1487424"/>
            <a:ext cx="53903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4233D"/>
                </a:solidFill>
                <a:latin typeface="Segoe UI"/>
              </a:rPr>
              <a:t>NumPy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126790" y="1487424"/>
            <a:ext cx="701710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172510" y="1487424"/>
            <a:ext cx="61027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4233D"/>
                </a:solidFill>
                <a:latin typeface="Segoe UI"/>
              </a:rPr>
              <a:t>OpenCV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929085" y="1487424"/>
            <a:ext cx="701710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974805" y="1487424"/>
            <a:ext cx="61027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4233D"/>
                </a:solidFill>
                <a:latin typeface="Segoe UI"/>
              </a:rPr>
              <a:t>Pillow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731379" y="1487424"/>
            <a:ext cx="1271564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77099" y="1487424"/>
            <a:ext cx="118012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4233D"/>
                </a:solidFill>
                <a:latin typeface="Segoe UI"/>
              </a:rPr>
              <a:t>Albumentations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103528" y="1487424"/>
            <a:ext cx="1627723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49248" y="1487424"/>
            <a:ext cx="153628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4233D"/>
                </a:solidFill>
                <a:latin typeface="Segoe UI"/>
              </a:rPr>
              <a:t>Web-Mercator tiling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11480" y="2005584"/>
            <a:ext cx="1783080" cy="487680"/>
          </a:xfrm>
          <a:prstGeom prst="roundRect">
            <a:avLst>
              <a:gd name="adj" fmla="val 10000"/>
            </a:avLst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39496" y="2005584"/>
            <a:ext cx="1581912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Segmentation (DL)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395728" y="2103120"/>
            <a:ext cx="767709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441448" y="2103120"/>
            <a:ext cx="67626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40" b="0">
                <a:solidFill>
                  <a:srgbClr val="14233D"/>
                </a:solidFill>
                <a:latin typeface="Segoe UI"/>
              </a:rPr>
              <a:t>PyTorch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259367" y="2103120"/>
            <a:ext cx="1684004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305087" y="2103120"/>
            <a:ext cx="159256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40" b="0">
                <a:solidFill>
                  <a:srgbClr val="14233D"/>
                </a:solidFill>
                <a:latin typeface="Segoe UI"/>
              </a:rPr>
              <a:t>SMP · U-Net/ResNet34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039300" y="2103120"/>
            <a:ext cx="697225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085020" y="2103120"/>
            <a:ext cx="60578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40" b="0">
                <a:solidFill>
                  <a:srgbClr val="14233D"/>
                </a:solidFill>
                <a:latin typeface="Segoe UI"/>
              </a:rPr>
              <a:t>D4 TTA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832455" y="2103120"/>
            <a:ext cx="1754488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878175" y="2103120"/>
            <a:ext cx="166304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40" b="0">
                <a:solidFill>
                  <a:srgbClr val="14233D"/>
                </a:solidFill>
                <a:latin typeface="Segoe UI"/>
              </a:rPr>
              <a:t>Mixed-Precision (AMP)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682873" y="2103120"/>
            <a:ext cx="1049646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728593" y="2103120"/>
            <a:ext cx="95820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40" b="0">
                <a:solidFill>
                  <a:srgbClr val="14233D"/>
                </a:solidFill>
                <a:latin typeface="Segoe UI"/>
              </a:rPr>
              <a:t>clDice loss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11480" y="2621280"/>
            <a:ext cx="1783080" cy="487680"/>
          </a:xfrm>
          <a:prstGeom prst="roundRect">
            <a:avLst>
              <a:gd name="adj" fmla="val 10000"/>
            </a:avLst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39496" y="2621280"/>
            <a:ext cx="1581912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Skeleton &amp; Graph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395728" y="2718816"/>
            <a:ext cx="2055114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441448" y="2718816"/>
            <a:ext cx="196367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4233D"/>
                </a:solidFill>
                <a:latin typeface="Segoe UI"/>
              </a:rPr>
              <a:t>scikit-image · Zhang-Suen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551426" y="2718816"/>
            <a:ext cx="559247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597146" y="2718816"/>
            <a:ext cx="46780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4233D"/>
                </a:solidFill>
                <a:latin typeface="Segoe UI"/>
              </a:rPr>
              <a:t>sknw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211257" y="2718816"/>
            <a:ext cx="844174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256977" y="2718816"/>
            <a:ext cx="75273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4233D"/>
                </a:solidFill>
                <a:latin typeface="Segoe UI"/>
              </a:rPr>
              <a:t>NetworkX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156015" y="2718816"/>
            <a:ext cx="1200332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201735" y="2718816"/>
            <a:ext cx="11088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4233D"/>
                </a:solidFill>
                <a:latin typeface="Segoe UI"/>
              </a:rPr>
              <a:t>SciPy cKDTree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11480" y="3236976"/>
            <a:ext cx="1783080" cy="487680"/>
          </a:xfrm>
          <a:prstGeom prst="roundRect">
            <a:avLst>
              <a:gd name="adj" fmla="val 10000"/>
            </a:avLst>
          </a:prstGeom>
          <a:solidFill>
            <a:srgbClr val="7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39496" y="3236976"/>
            <a:ext cx="1581912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Resilience &amp; Analysis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395728" y="3334512"/>
            <a:ext cx="1814317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441448" y="3334512"/>
            <a:ext cx="172287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92" b="0">
                <a:solidFill>
                  <a:srgbClr val="14233D"/>
                </a:solidFill>
                <a:latin typeface="Segoe UI"/>
              </a:rPr>
              <a:t>Betweenness (k-sampled)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282639" y="3334512"/>
            <a:ext cx="1479535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328359" y="3334512"/>
            <a:ext cx="138809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92" b="0">
                <a:solidFill>
                  <a:srgbClr val="14233D"/>
                </a:solidFill>
                <a:latin typeface="Segoe UI"/>
              </a:rPr>
              <a:t>Union-Find healing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834768" y="3334512"/>
            <a:ext cx="1479535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880488" y="3334512"/>
            <a:ext cx="138809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92" b="0">
                <a:solidFill>
                  <a:srgbClr val="14233D"/>
                </a:solidFill>
                <a:latin typeface="Segoe UI"/>
              </a:rPr>
              <a:t>Flood-DEM ablation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386897" y="3334512"/>
            <a:ext cx="1345622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432617" y="3334512"/>
            <a:ext cx="125418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92" b="0">
                <a:solidFill>
                  <a:srgbClr val="14233D"/>
                </a:solidFill>
                <a:latin typeface="Segoe UI"/>
              </a:rPr>
              <a:t>Demand weighting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11480" y="3852671"/>
            <a:ext cx="1783080" cy="487680"/>
          </a:xfrm>
          <a:prstGeom prst="roundRect">
            <a:avLst>
              <a:gd name="adj" fmla="val 10000"/>
            </a:avLst>
          </a:prstGeom>
          <a:solidFill>
            <a:srgbClr val="1F9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39496" y="3852671"/>
            <a:ext cx="1581912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Dashboard &amp; Backend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395728" y="3950207"/>
            <a:ext cx="956401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441448" y="3950207"/>
            <a:ext cx="86496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9" b="0">
                <a:solidFill>
                  <a:srgbClr val="14233D"/>
                </a:solidFill>
                <a:latin typeface="Segoe UI"/>
              </a:rPr>
              <a:t>Vanilla JS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433888" y="3950207"/>
            <a:ext cx="956401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479608" y="3950207"/>
            <a:ext cx="86496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9" b="0">
                <a:solidFill>
                  <a:srgbClr val="14233D"/>
                </a:solidFill>
                <a:latin typeface="Segoe UI"/>
              </a:rPr>
              <a:t>Leaflet.js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472049" y="3950207"/>
            <a:ext cx="1365650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517769" y="3950207"/>
            <a:ext cx="127421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9" b="0">
                <a:solidFill>
                  <a:srgbClr val="14233D"/>
                </a:solidFill>
                <a:latin typeface="Segoe UI"/>
              </a:rPr>
              <a:t>Three.js (WebGL)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919459" y="3950207"/>
            <a:ext cx="1229234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965179" y="3950207"/>
            <a:ext cx="113779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9" b="0">
                <a:solidFill>
                  <a:srgbClr val="14233D"/>
                </a:solidFill>
                <a:latin typeface="Segoe UI"/>
              </a:rPr>
              <a:t>Apache ECharts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230453" y="3950207"/>
            <a:ext cx="1502066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7276173" y="3950207"/>
            <a:ext cx="141062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9" b="0">
                <a:solidFill>
                  <a:srgbClr val="14233D"/>
                </a:solidFill>
                <a:latin typeface="Segoe UI"/>
              </a:rPr>
              <a:t>Python http.server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11480" y="4468368"/>
            <a:ext cx="1783080" cy="487680"/>
          </a:xfrm>
          <a:prstGeom prst="roundRect">
            <a:avLst>
              <a:gd name="adj" fmla="val 10000"/>
            </a:avLst>
          </a:prstGeom>
          <a:solidFill>
            <a:srgbClr val="E09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39496" y="4468368"/>
            <a:ext cx="1581912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Data Sources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2395728" y="4565904"/>
            <a:ext cx="1284581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441448" y="4565904"/>
            <a:ext cx="119314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748" b="0">
                <a:solidFill>
                  <a:srgbClr val="14233D"/>
                </a:solidFill>
                <a:latin typeface="Segoe UI"/>
              </a:rPr>
              <a:t>Esri World Imagery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726029" y="4565904"/>
            <a:ext cx="1621334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771749" y="4565904"/>
            <a:ext cx="152989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748" b="0">
                <a:solidFill>
                  <a:srgbClr val="14233D"/>
                </a:solidFill>
                <a:latin typeface="Segoe UI"/>
              </a:rPr>
              <a:t>OpenStreetMap / Overpass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393084" y="4565904"/>
            <a:ext cx="667199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438804" y="4565904"/>
            <a:ext cx="5757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748" b="0">
                <a:solidFill>
                  <a:srgbClr val="14233D"/>
                </a:solidFill>
                <a:latin typeface="Segoe UI"/>
              </a:rPr>
              <a:t>AWS DEM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106003" y="4565904"/>
            <a:ext cx="779450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151723" y="4565904"/>
            <a:ext cx="68801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748" b="0">
                <a:solidFill>
                  <a:srgbClr val="14233D"/>
                </a:solidFill>
                <a:latin typeface="Segoe UI"/>
              </a:rPr>
              <a:t>DeepGlobe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931174" y="4565904"/>
            <a:ext cx="1958088" cy="292608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976894" y="4565904"/>
            <a:ext cx="186664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748" b="0">
                <a:solidFill>
                  <a:srgbClr val="14233D"/>
                </a:solidFill>
                <a:latin typeface="Segoe UI"/>
              </a:rPr>
              <a:t>LISS-IV / Cartosat (NIR-ready)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Rounded Rectangle 105"/>
          <p:cNvSpPr/>
          <p:nvPr/>
        </p:nvSpPr>
        <p:spPr>
          <a:xfrm>
            <a:off x="411480" y="731520"/>
            <a:ext cx="146304" cy="365760"/>
          </a:xfrm>
          <a:prstGeom prst="roundRect">
            <a:avLst>
              <a:gd name="adj" fmla="val 18000"/>
            </a:avLst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85800" y="676656"/>
            <a:ext cx="8046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4233D"/>
                </a:solidFill>
                <a:latin typeface="Segoe UI Semibold"/>
              </a:rPr>
              <a:t>Honest Cost Breakdown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5800" y="1152144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A6472"/>
                </a:solidFill>
                <a:latin typeface="Segoe UI"/>
              </a:rPr>
              <a:t>Open data &amp; open source — the only real recurring cost is the GPU that powers live inference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11480" y="1435608"/>
            <a:ext cx="6766560" cy="47548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2648" y="1499616"/>
            <a:ext cx="4389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233D"/>
                </a:solidFill>
                <a:latin typeface="Segoe UI"/>
              </a:rPr>
              <a:t>Satellite &amp; map imagery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5A6472"/>
                </a:solidFill>
                <a:latin typeface="Segoe UI"/>
              </a:rPr>
              <a:t>Esri tiles · OpenStreetMap / Overpass · AWS DEM — open, no API key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315200" y="1435608"/>
            <a:ext cx="1417320" cy="475488"/>
          </a:xfrm>
          <a:prstGeom prst="roundRect">
            <a:avLst>
              <a:gd name="adj" fmla="val 10000"/>
            </a:avLst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₹0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11480" y="2016252"/>
            <a:ext cx="6766560" cy="47548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2648" y="2080260"/>
            <a:ext cx="4389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233D"/>
                </a:solidFill>
                <a:latin typeface="Segoe UI"/>
              </a:rPr>
              <a:t>Training &amp; validation data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5A6472"/>
                </a:solidFill>
                <a:latin typeface="Segoe UI"/>
              </a:rPr>
              <a:t>DeepGlobe (training) · OpenStreetMap (validation) — open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315200" y="2016252"/>
            <a:ext cx="1417320" cy="475488"/>
          </a:xfrm>
          <a:prstGeom prst="roundRect">
            <a:avLst>
              <a:gd name="adj" fmla="val 10000"/>
            </a:avLst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₹0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11480" y="2596896"/>
            <a:ext cx="6766560" cy="47548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12648" y="2660903"/>
            <a:ext cx="4389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233D"/>
                </a:solidFill>
                <a:latin typeface="Segoe UI"/>
              </a:rPr>
              <a:t>Model training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5A6472"/>
                </a:solidFill>
                <a:latin typeface="Segoe UI"/>
              </a:rPr>
              <a:t>One-time, a few GPU-hours on the team's own laptop GPU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7315200" y="2596896"/>
            <a:ext cx="1417320" cy="475488"/>
          </a:xfrm>
          <a:prstGeom prst="roundRect">
            <a:avLst>
              <a:gd name="adj" fmla="val 10000"/>
            </a:avLst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₹0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11480" y="3177539"/>
            <a:ext cx="6766560" cy="47548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12648" y="3241547"/>
            <a:ext cx="4389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233D"/>
                </a:solidFill>
                <a:latin typeface="Segoe UI"/>
              </a:rPr>
              <a:t>Live inference — GPU backend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5A6472"/>
                </a:solidFill>
                <a:latin typeface="Segoe UI"/>
              </a:rPr>
              <a:t>≈ 50 s / scene; cloud GPU ≈ ₹1–2 per scene, or ₹0 on an owned GPU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315200" y="3177539"/>
            <a:ext cx="1417320" cy="475488"/>
          </a:xfrm>
          <a:prstGeom prst="roundRect">
            <a:avLst>
              <a:gd name="adj" fmla="val 10000"/>
            </a:avLst>
          </a:prstGeom>
          <a:solidFill>
            <a:srgbClr val="E09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≈₹1–2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11480" y="3758183"/>
            <a:ext cx="6766560" cy="47548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12648" y="3822191"/>
            <a:ext cx="4389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233D"/>
                </a:solidFill>
                <a:latin typeface="Segoe UI"/>
              </a:rPr>
              <a:t>Static dashboard hosting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5A6472"/>
                </a:solidFill>
                <a:latin typeface="Segoe UI"/>
              </a:rPr>
              <a:t>Vanilla-JS bundle on Vercel / Netlify free tier — no server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7315200" y="3758183"/>
            <a:ext cx="1417320" cy="475488"/>
          </a:xfrm>
          <a:prstGeom prst="roundRect">
            <a:avLst>
              <a:gd name="adj" fmla="val 10000"/>
            </a:avLst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₹0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11480" y="4357115"/>
            <a:ext cx="8321040" cy="598932"/>
          </a:xfrm>
          <a:prstGeom prst="roundRect">
            <a:avLst>
              <a:gd name="adj" fmla="val 6000"/>
            </a:avLst>
          </a:prstGeom>
          <a:solidFill>
            <a:srgbClr val="14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DEV &amp; DEMO   </a:t>
            </a:r>
            <a:r>
              <a:rPr sz="1800" b="1">
                <a:solidFill>
                  <a:srgbClr val="F26522"/>
                </a:solidFill>
                <a:latin typeface="Segoe UI"/>
              </a:rPr>
              <a:t>≈  ₹0</a:t>
            </a:r>
            <a:r>
              <a:rPr sz="1100" b="0">
                <a:solidFill>
                  <a:srgbClr val="EAF0F7"/>
                </a:solidFill>
                <a:latin typeface="Segoe UI"/>
              </a:rPr>
              <a:t>   ·   open data · owned GPU · free static hosting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EAF0F7"/>
                </a:solidFill>
                <a:latin typeface="Segoe UI"/>
              </a:rPr>
              <a:t>At scale the only recurring cost is the GPU for live inference — ≈ ₹1–2 per analysed scene on a cloud GPU, ₹0 on owned hardware.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wswswswdwdw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