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Google Sans Medium"/>
      <p:regular r:id="rId17"/>
      <p:bold r:id="rId18"/>
      <p:italic r:id="rId19"/>
      <p:boldItalic r:id="rId20"/>
    </p:embeddedFont>
    <p:embeddedFont>
      <p:font typeface="Google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873B31-D759-4C72-88C0-AE5C199AA5C8}">
  <a:tblStyle styleId="{E2873B31-D759-4C72-88C0-AE5C199AA5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font" Target="fonts/GoogleSansMedium-regular.fntdata"/><Relationship Id="rId18" Type="http://schemas.openxmlformats.org/officeDocument/2006/relationships/font" Target="fonts/GoogleSansMedium-bold.fntdata"/><Relationship Id="rId19" Type="http://schemas.openxmlformats.org/officeDocument/2006/relationships/font" Target="fonts/GoogleSansMedium-italic.fntdata"/><Relationship Id="rId20" Type="http://schemas.openxmlformats.org/officeDocument/2006/relationships/font" Target="fonts/GoogleSansMedium-boldItalic.fntdata"/><Relationship Id="rId21" Type="http://schemas.openxmlformats.org/officeDocument/2006/relationships/font" Target="fonts/GoogleSans-regular.fntdata"/><Relationship Id="rId22" Type="http://schemas.openxmlformats.org/officeDocument/2006/relationships/font" Target="fonts/GoogleSans-bold.fntdata"/><Relationship Id="rId23" Type="http://schemas.openxmlformats.org/officeDocument/2006/relationships/font" Target="fonts/GoogleSans-italic.fntdata"/><Relationship Id="rId24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3535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94675" y="331937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800">
                <a:solidFill>
                  <a:srgbClr val="14233D"/>
                </a:solidFill>
                <a:latin typeface="Segoe UI Semibold"/>
              </a:rPr>
              <a:t>Team Name :  </a:t>
            </a:r>
            <a:r>
              <a:rPr b="0" sz="1800">
                <a:solidFill>
                  <a:srgbClr val="D44E12"/>
                </a:solidFill>
                <a:latin typeface="Segoe UI"/>
              </a:rPr>
              <a:t>Escape the Matrix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28730" y="426921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250">
                <a:solidFill>
                  <a:srgbClr val="14233D"/>
                </a:solidFill>
                <a:latin typeface="Segoe UI Semibold"/>
              </a:rPr>
              <a:t>Problem Statement :  </a:t>
            </a:r>
            <a:r>
              <a:rPr b="0" sz="1250">
                <a:solidFill>
                  <a:srgbClr val="0F1B2D"/>
                </a:solidFill>
                <a:latin typeface="Segoe UI"/>
              </a:rPr>
              <a:t>PS-4  ·  Route Resilience — Occlusion-Robust Road Extraction &amp; Graph-Theoretic Criticality Analysis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0163" y="379413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600">
                <a:solidFill>
                  <a:srgbClr val="14233D"/>
                </a:solidFill>
                <a:latin typeface="Segoe UI Semibold"/>
              </a:rPr>
              <a:t>Team Leader Name :  </a:t>
            </a:r>
            <a:r>
              <a:rPr b="0" sz="1600">
                <a:solidFill>
                  <a:srgbClr val="D44E12"/>
                </a:solidFill>
                <a:latin typeface="Segoe UI"/>
              </a:rPr>
              <a:t>Viswas R Bhat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370500" y="702175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b="0" i="0" lang="en-GB" sz="205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Team Members</a:t>
            </a:r>
            <a:endParaRPr b="0" i="0" sz="205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graphicFrame>
        <p:nvGraphicFramePr>
          <p:cNvPr id="64" name="Google Shape;64;p14"/>
          <p:cNvGraphicFramePr/>
          <p:nvPr/>
        </p:nvGraphicFramePr>
        <p:xfrm>
          <a:off x="952500" y="132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{E2873B31-D759-4C72-88C0-AE5C199AA5C8}</a:tableStyleId>
              </a:tblPr>
              <a:tblGrid>
                <a:gridCol w="3619500"/>
                <a:gridCol w="3619500"/>
              </a:tblGrid>
              <a:tr h="1794975"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Leader</a:t>
                      </a:r>
                      <a:endParaRPr sz="1400" u="none" cap="none" strike="noStrike"/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Member-1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94975"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Member-2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Mayank Kumar Singh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Member-3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Dibyansh Raj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Rounded Rectangle 6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Opportunity &amp; Unique Selling Proposition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1335024"/>
            <a:ext cx="8321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4233D"/>
                </a:solidFill>
                <a:latin typeface="Segoe UI"/>
              </a:rPr>
              <a:t>The gap:  </a:t>
            </a:r>
            <a:r>
              <a:rPr sz="1250" b="0">
                <a:solidFill>
                  <a:srgbClr val="5A6472"/>
                </a:solidFill>
                <a:latin typeface="Segoe UI"/>
              </a:rPr>
              <a:t>Satellite road extraction suffers “spectral blindness” — tree canopy, building shadows and clouds break the mask, leaving it topologically disconnected and useless for routing, traffic or disaster response.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1938528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How we are different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2286000"/>
            <a:ext cx="91440" cy="493776"/>
          </a:xfrm>
          <a:prstGeom prst="roundRect">
            <a:avLst>
              <a:gd name="adj" fmla="val 3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2648" y="2267712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by design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Context-aware DL trained with synthetic occlusion learns roads exist under shadow/canopy.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2935224"/>
            <a:ext cx="91440" cy="493776"/>
          </a:xfrm>
          <a:prstGeom prst="roundRect">
            <a:avLst>
              <a:gd name="adj" fmla="val 3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2648" y="2916936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Topological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MST + Disjoint-Set with angular alignment turn broken pixels into a connected, routable graph.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584448"/>
            <a:ext cx="91440" cy="493776"/>
          </a:xfrm>
          <a:prstGeom prst="roundRect">
            <a:avLst>
              <a:gd name="adj" fmla="val 3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3566160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Predictive “what-if” resilience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Node-ablation stress tests quantify systemic collapse via a Resilience Index.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4233672"/>
            <a:ext cx="91440" cy="493776"/>
          </a:xfrm>
          <a:prstGeom prst="roundRect">
            <a:avLst>
              <a:gd name="adj" fmla="val 3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2648" y="4215384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Indigenous EO + open truth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Cartosat / LISS-IV / Sentinel-2 with OSM pseudo-labels — zero manual labelling.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92040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Broken mask  →  Healed routable network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9204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92040" y="439826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D63B3B"/>
                </a:solidFill>
                <a:latin typeface="Segoe UI"/>
              </a:rPr>
              <a:t>Standard extraction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075377" y="2768803"/>
            <a:ext cx="515264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811469" y="2955340"/>
            <a:ext cx="588873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296204" y="3421684"/>
            <a:ext cx="368046" cy="559613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885078" y="3514953"/>
            <a:ext cx="0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075377" y="3888028"/>
            <a:ext cx="368046" cy="37308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032296" y="2675534"/>
            <a:ext cx="29444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704088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40880" y="439826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2A594"/>
                </a:solidFill>
                <a:latin typeface="Segoe UI"/>
              </a:rPr>
              <a:t>Route Resilience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7371435" y="2768803"/>
            <a:ext cx="515265" cy="93269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886700" y="2768803"/>
            <a:ext cx="515264" cy="18653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371435" y="2862072"/>
            <a:ext cx="147219" cy="652881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886700" y="2768803"/>
            <a:ext cx="73609" cy="78345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328355" y="2955340"/>
            <a:ext cx="73609" cy="93268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518654" y="3514953"/>
            <a:ext cx="441655" cy="3730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960309" y="3552261"/>
            <a:ext cx="368046" cy="33576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7445044" y="3514953"/>
            <a:ext cx="73610" cy="559613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7445044" y="3552261"/>
            <a:ext cx="515265" cy="522305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7334859" y="2825496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850124" y="273222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365388" y="2918764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82078" y="347837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907274" y="3499225"/>
            <a:ext cx="106070" cy="106070"/>
          </a:xfrm>
          <a:prstGeom prst="ellipse">
            <a:avLst/>
          </a:prstGeom>
          <a:solidFill>
            <a:srgbClr val="D63B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291779" y="3851452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08468" y="4037990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6638544" y="3328415"/>
            <a:ext cx="347472" cy="0"/>
          </a:xfrm>
          <a:prstGeom prst="line">
            <a:avLst/>
          </a:prstGeom>
          <a:ln w="31750">
            <a:solidFill>
              <a:srgbClr val="F265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Rounded Rectangle 7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Key Features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57784" y="1609344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1627632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6696" y="1481328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segmentation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Attention U-Net with multi-scale context fusion “sees through” canopy, shadow &amp; cloud.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70916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855464" y="1609344"/>
            <a:ext cx="329184" cy="329184"/>
          </a:xfrm>
          <a:prstGeom prst="ellipse">
            <a:avLst/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83480" y="1627632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94376" y="1481328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Topological reconstruction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Skeletonize → graph → MST healing yields a routable weighted vector network.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1148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7784" y="2542032"/>
            <a:ext cx="329184" cy="3291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5800" y="2560320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6696" y="2414016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Gatekeeper-node detection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Betweenness centrality maps the city’s critical intersections &amp; weakest links.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6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55464" y="2542032"/>
            <a:ext cx="329184" cy="329184"/>
          </a:xfrm>
          <a:prstGeom prst="ellipse">
            <a:avLst/>
          </a:prstGeom>
          <a:solidFill>
            <a:srgbClr val="D6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983480" y="2560320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94376" y="2414016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Disaster stress-test simulation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Node ablation models floods, accidents &amp; closures, with instant rerouting.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148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57784" y="3474720"/>
            <a:ext cx="329184" cy="329184"/>
          </a:xfrm>
          <a:prstGeom prst="ellipse">
            <a:avLst/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5800" y="3493008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6696" y="3346704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Resilience Index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Single metric for network efficiency loss — from 1.00 (stable) toward 0 (collapse).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0916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855464" y="3474720"/>
            <a:ext cx="329184" cy="329184"/>
          </a:xfrm>
          <a:prstGeom prst="ellipse">
            <a:avLst/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83480" y="3493008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94376" y="3346704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Interactive planner dashboard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Dark Streamlit + Leaflet map; click a node to disable it and see the impact.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57784" y="4407408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85800" y="4425696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6696" y="4279392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Cross-terrain generalization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Works across dense urban, forested suburban and rural landscapes.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70916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855464" y="4407408"/>
            <a:ext cx="329184" cy="329184"/>
          </a:xfrm>
          <a:prstGeom prst="ellipse">
            <a:avLst/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983480" y="4425696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94376" y="4279392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Modular &amp; lightweight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Analysis &amp; UI run on CPU; training fits a single laptop GPU.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7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Rounded Rectangle 81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Process Flow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Raw EO imagery → ML extraction → skeletonization → topological healing → network analysis → stress testing → dashboard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636621" y="1655064"/>
            <a:ext cx="5870757" cy="33649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6" name="Picture 85" descr="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349" y="1764792"/>
            <a:ext cx="5651301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8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Rounded Rectangle 87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Dashboard Mock-up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Premium dark-themed planner UI · Streamlit + Leaflet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1480" y="1664208"/>
            <a:ext cx="8321040" cy="3291839"/>
          </a:xfrm>
          <a:prstGeom prst="roundRect">
            <a:avLst>
              <a:gd name="adj" fmla="val 3000"/>
            </a:avLst>
          </a:prstGeom>
          <a:solidFill>
            <a:srgbClr val="0B0E14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" y="17739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E6BD"/>
                </a:solidFill>
                <a:latin typeface="Segoe UI Semibold"/>
              </a:rPr>
              <a:t>◉  ROUTE RESILIENCE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9320" y="181051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B97A7"/>
                </a:solidFill>
                <a:latin typeface="Segoe UI"/>
              </a:rPr>
              <a:t>ISRO BAH 2026 · PS-4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4980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RESILIENCE INDEX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FFB347"/>
                </a:solidFill>
                <a:latin typeface="Consolas"/>
              </a:rPr>
              <a:t>0.62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980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FFB347"/>
                </a:solidFill>
                <a:latin typeface="Segoe UI"/>
              </a:rPr>
              <a:t>DEGRADED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67462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78434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ROAD NODES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8434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4,812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434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healed graph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0916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1888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TOP GATEKEEPER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1888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FF4D4D"/>
                </a:solidFill>
                <a:latin typeface="Consolas"/>
              </a:rPr>
              <a:t>N-1407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1888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FF4D4D"/>
                </a:solidFill>
                <a:latin typeface="Segoe UI"/>
              </a:rPr>
              <a:t>BC 0.089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4370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5342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CONNECTIVITY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342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+88%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342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post-healing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40080" y="3017520"/>
            <a:ext cx="4892040" cy="1773936"/>
          </a:xfrm>
          <a:prstGeom prst="roundRect">
            <a:avLst>
              <a:gd name="adj" fmla="val 4000"/>
            </a:avLst>
          </a:prstGeom>
          <a:solidFill>
            <a:srgbClr val="0E1320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" y="3072384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8B97A7"/>
                </a:solidFill>
                <a:latin typeface="Segoe UI"/>
              </a:rPr>
              <a:t>CRITICALITY MAP · Bengaluru</a:t>
            </a:r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75588" y="3486424"/>
            <a:ext cx="1357884" cy="105339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33472" y="3486424"/>
            <a:ext cx="1448409" cy="13167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81881" y="3618097"/>
            <a:ext cx="905256" cy="23701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275588" y="3591763"/>
            <a:ext cx="452628" cy="395020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633472" y="3486424"/>
            <a:ext cx="452628" cy="43452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081881" y="3618097"/>
            <a:ext cx="271577" cy="43452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728216" y="3920947"/>
            <a:ext cx="1357884" cy="65836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86100" y="3920947"/>
            <a:ext cx="1267358" cy="13167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353458" y="3855110"/>
            <a:ext cx="633679" cy="197510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728216" y="3986783"/>
            <a:ext cx="543153" cy="421356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86100" y="3920947"/>
            <a:ext cx="543153" cy="460857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271369" y="4381804"/>
            <a:ext cx="1357884" cy="26335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629253" y="4381804"/>
            <a:ext cx="1176833" cy="65837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353458" y="4052620"/>
            <a:ext cx="452628" cy="395021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244498" y="3560673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602382" y="345533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039819" y="3576035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956048" y="3824020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697126" y="395569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31236" y="3866083"/>
            <a:ext cx="109728" cy="109728"/>
          </a:xfrm>
          <a:prstGeom prst="ellipse">
            <a:avLst/>
          </a:prstGeom>
          <a:solidFill>
            <a:srgbClr val="FF4D4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311396" y="4010558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240280" y="4377049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598164" y="4350715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4774996" y="4416552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976372" y="3792931"/>
            <a:ext cx="21945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60720" y="3017520"/>
            <a:ext cx="2743199" cy="1773936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888736" y="3090672"/>
            <a:ext cx="248716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9A84C"/>
                </a:solidFill>
                <a:latin typeface="Segoe UI"/>
              </a:rPr>
              <a:t>GATEKEEPER NODES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870448" y="3310127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80176" y="3310127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#1  N-1407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845552" y="3310127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0.089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70448" y="3579875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980176" y="3579875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#2  N-0982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845552" y="3579875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0.071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870448" y="3849624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980176" y="3849624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#3  N-2255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45552" y="3849624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0.058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870448" y="4119372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980176" y="4119372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#4  N-0613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45552" y="4119372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0.047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870448" y="4389120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980176" y="4389120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#5  N-1190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45552" y="4389120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00E6BD"/>
                </a:solidFill>
                <a:latin typeface="Consolas"/>
              </a:rPr>
              <a:t>0.039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9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Rounded Rectangle 93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Solution Architecture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11480" y="1408176"/>
            <a:ext cx="8321040" cy="420624"/>
          </a:xfrm>
          <a:prstGeom prst="roundRect">
            <a:avLst>
              <a:gd name="adj" fmla="val 10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26522"/>
                </a:solidFill>
                <a:latin typeface="Segoe UI"/>
              </a:rPr>
              <a:t>INPUTS   </a:t>
            </a:r>
            <a:r>
              <a:rPr sz="1050" b="0">
                <a:solidFill>
                  <a:srgbClr val="FFFFFF"/>
                </a:solidFill>
                <a:latin typeface="Segoe UI"/>
              </a:rPr>
              <a:t>Sentinel-2 (10m)  ·  Resourcesat LISS-IV (5.8m)  ·  Cartosat-3 (hi-res)  ·  OpenStreetMap ground truth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1480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2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11480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P1  </a:t>
            </a:r>
            <a:r>
              <a:rPr sz="1050" b="1">
                <a:solidFill>
                  <a:srgbClr val="FFFFFF"/>
                </a:solidFill>
                <a:latin typeface="Segoe UI"/>
              </a:rPr>
              <a:t>Segmentation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U-Net + ResNet34 (SMP)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Dice+BCE+Conn · D4 TTA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Synthetic-occlusion aug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76072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84632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2A594"/>
                </a:solidFill>
                <a:latin typeface="Segoe UI"/>
              </a:rPr>
              <a:t>▸ </a:t>
            </a:r>
            <a:r>
              <a:rPr sz="840" b="1">
                <a:solidFill>
                  <a:srgbClr val="12A594"/>
                </a:solidFill>
                <a:latin typeface="Segoe UI"/>
              </a:rPr>
              <a:t>binary mask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37867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137867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P2  </a:t>
            </a:r>
            <a:r>
              <a:rPr sz="1050" b="1">
                <a:solidFill>
                  <a:srgbClr val="FFFFFF"/>
                </a:solidFill>
                <a:latin typeface="Segoe UI"/>
              </a:rPr>
              <a:t>Skeletonization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29307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Morph. closing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Zhang-Suen thinning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Graph builder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302459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211019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2E6FE0"/>
                </a:solidFill>
                <a:latin typeface="Segoe UI"/>
              </a:rPr>
              <a:t>▸ </a:t>
            </a:r>
            <a:r>
              <a:rPr sz="840" b="1">
                <a:solidFill>
                  <a:srgbClr val="2E6FE0"/>
                </a:solidFill>
                <a:latin typeface="Segoe UI"/>
              </a:rPr>
              <a:t>raw graph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864254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7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64254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P3  </a:t>
            </a:r>
            <a:r>
              <a:rPr sz="1050" b="1">
                <a:solidFill>
                  <a:srgbClr val="FFFFFF"/>
                </a:solidFill>
                <a:latin typeface="Segoe UI"/>
              </a:rPr>
              <a:t>Topological Healing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55694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Union-Find + MST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Angular alignment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Gap bridging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028846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937406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7A5C9E"/>
                </a:solidFill>
                <a:latin typeface="Segoe UI"/>
              </a:rPr>
              <a:t>▸ </a:t>
            </a:r>
            <a:r>
              <a:rPr sz="840" b="1">
                <a:solidFill>
                  <a:srgbClr val="7A5C9E"/>
                </a:solidFill>
                <a:latin typeface="Segoe UI"/>
              </a:rPr>
              <a:t>routable graph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590641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590641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P4  </a:t>
            </a:r>
            <a:r>
              <a:rPr sz="1050" b="1">
                <a:solidFill>
                  <a:srgbClr val="FFFFFF"/>
                </a:solidFill>
                <a:latin typeface="Segoe UI"/>
              </a:rPr>
              <a:t>Network Analysis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82081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Betweenness centrality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Node ablation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Resilience Index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755233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663793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F26522"/>
                </a:solidFill>
                <a:latin typeface="Segoe UI"/>
              </a:rPr>
              <a:t>▸ </a:t>
            </a:r>
            <a:r>
              <a:rPr sz="840" b="1">
                <a:solidFill>
                  <a:srgbClr val="F26522"/>
                </a:solidFill>
                <a:latin typeface="Segoe UI"/>
              </a:rPr>
              <a:t>criticality + metrics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7028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F9B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317028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P5  </a:t>
            </a:r>
            <a:r>
              <a:rPr sz="1050" b="1">
                <a:solidFill>
                  <a:srgbClr val="FFFFFF"/>
                </a:solidFill>
                <a:latin typeface="Segoe UI"/>
              </a:rPr>
              <a:t>Dashboard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08468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Streamlit + Folium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Leaflet / DarkMatter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Click-to-disable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7481620" y="3575304"/>
            <a:ext cx="1086308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7390180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F9BD1"/>
                </a:solidFill>
                <a:latin typeface="Segoe UI"/>
              </a:rPr>
              <a:t>▸ </a:t>
            </a:r>
            <a:r>
              <a:rPr sz="840" b="1">
                <a:solidFill>
                  <a:srgbClr val="1F9BD1"/>
                </a:solidFill>
                <a:latin typeface="Segoe UI"/>
              </a:rPr>
              <a:t>interactive UI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845259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571646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5298033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24420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411480" y="4142232"/>
            <a:ext cx="8321040" cy="36576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12A594"/>
                </a:solidFill>
                <a:latin typeface="Segoe UI"/>
              </a:rPr>
              <a:t>VALIDATED   </a:t>
            </a:r>
            <a:r>
              <a:rPr sz="919" b="0">
                <a:solidFill>
                  <a:srgbClr val="14233D"/>
                </a:solidFill>
                <a:latin typeface="Segoe UI"/>
              </a:rPr>
              <a:t>Real held-out DeepGlobe (934 tiles, never seen in training)  ·  Road IoU 0.605  ·  Relaxed-IoU 0.770  ·  Occlusion-recall 0.63  —  U-Net/ResNet34 + D4 TTA, threshold-tuned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0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138988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39496" y="1389888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&amp; Geospatial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395728" y="1487424"/>
            <a:ext cx="84417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41448" y="1487424"/>
            <a:ext cx="75273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Rasterio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340486" y="1487424"/>
            <a:ext cx="55924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386206" y="1487424"/>
            <a:ext cx="46780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GDAL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000317" y="1487424"/>
            <a:ext cx="91540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046037" y="1487424"/>
            <a:ext cx="82396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GeoPandas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16306" y="1487424"/>
            <a:ext cx="77294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62026" y="1487424"/>
            <a:ext cx="68150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Shapely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889833" y="1487424"/>
            <a:ext cx="63047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935553" y="1487424"/>
            <a:ext cx="53903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OSMnx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20896" y="1487424"/>
            <a:ext cx="127156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66616" y="1487424"/>
            <a:ext cx="11801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Albumentations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11480" y="2005584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39496" y="2005584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Segmentation (DL)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95728" y="2103120"/>
            <a:ext cx="77294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441448" y="2103120"/>
            <a:ext cx="68150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PyTorch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269254" y="2103120"/>
            <a:ext cx="169895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314974" y="2103120"/>
            <a:ext cx="160751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SMP · U-Net+ResNet34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68793" y="2103120"/>
            <a:ext cx="1057869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14513" y="2103120"/>
            <a:ext cx="96642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torchvision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227246" y="2103120"/>
            <a:ext cx="1770186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272966" y="2103120"/>
            <a:ext cx="16787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Mixed Precision (AMP)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11480" y="2621280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39496" y="2621280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Skeletonization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395728" y="2718816"/>
            <a:ext cx="11291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441448" y="2718816"/>
            <a:ext cx="103766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scikit-image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625413" y="2718816"/>
            <a:ext cx="1627723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71133" y="2718816"/>
            <a:ext cx="153628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Zhang-Suen thinning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353720" y="2718816"/>
            <a:ext cx="63047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399440" y="2718816"/>
            <a:ext cx="53903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SciPy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84783" y="2718816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130503" y="2718816"/>
            <a:ext cx="6102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OpenCV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1480" y="3236976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9496" y="3236976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Graph &amp; Analysis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395728" y="3334512"/>
            <a:ext cx="84417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441448" y="3334512"/>
            <a:ext cx="75273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NetworkX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340486" y="3334512"/>
            <a:ext cx="184141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386206" y="3334512"/>
            <a:ext cx="174997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Betweenness centrality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282488" y="3334512"/>
            <a:ext cx="141402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28208" y="3334512"/>
            <a:ext cx="132258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Union-Find / MST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797100" y="3334512"/>
            <a:ext cx="98663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842820" y="3334512"/>
            <a:ext cx="89519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PyG (opt.)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11480" y="3852671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39496" y="3852671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Visualization &amp; UI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395728" y="3950207"/>
            <a:ext cx="91540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441448" y="3950207"/>
            <a:ext cx="82396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Streamlit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11717" y="3950207"/>
            <a:ext cx="1627723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457437" y="3950207"/>
            <a:ext cx="153628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Folium · Leaflet.js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140025" y="3950207"/>
            <a:ext cx="155649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185745" y="3950207"/>
            <a:ext cx="146505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CartoDB DarkMatter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797100" y="3950207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842820" y="3950207"/>
            <a:ext cx="6102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Plotly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599395" y="3950207"/>
            <a:ext cx="98663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645115" y="3950207"/>
            <a:ext cx="89519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Matplotlib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11480" y="446836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39496" y="4468368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Sources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395728" y="4565904"/>
            <a:ext cx="98663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441448" y="4565904"/>
            <a:ext cx="89519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Sentinel-2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482949" y="4565904"/>
            <a:ext cx="77294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528669" y="4565904"/>
            <a:ext cx="68150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LISS-IV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356475" y="4565904"/>
            <a:ext cx="98663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02195" y="4565904"/>
            <a:ext cx="89519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Cartosat-3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443697" y="4565904"/>
            <a:ext cx="120033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489417" y="4565904"/>
            <a:ext cx="110889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OpenStreetMap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744614" y="4565904"/>
            <a:ext cx="84417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790334" y="4565904"/>
            <a:ext cx="75273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SpaceNet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689372" y="4565904"/>
            <a:ext cx="91540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735092" y="4565904"/>
            <a:ext cx="82396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DeepGlobe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1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Rounded Rectangle 10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Estimated Implementation Cost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Fully open-data, open-source — runs on existing hardware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1480" y="1435608"/>
            <a:ext cx="6766560" cy="512064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2648" y="1499616"/>
            <a:ext cx="4389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Satellite imagery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Open Sentinel-2 / LISS-IV; Cartosat-3 provided during hackathon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15200" y="1435608"/>
            <a:ext cx="1417320" cy="512064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80" y="2066544"/>
            <a:ext cx="6766560" cy="512064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2648" y="2130552"/>
            <a:ext cx="4389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Ground truth &amp; datasets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OpenStreetMap, SpaceNet, DeepGlobe — all open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315200" y="2066544"/>
            <a:ext cx="1417320" cy="512064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0" y="2697480"/>
            <a:ext cx="6766560" cy="512064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2648" y="2761488"/>
            <a:ext cx="4389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Software stack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100% open-source; CartoDB DarkMatter needs no API key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5200" y="2697480"/>
            <a:ext cx="1417320" cy="512064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80" y="3328416"/>
            <a:ext cx="6766560" cy="512064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12648" y="3392424"/>
            <a:ext cx="4389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Compute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Training on team’s RTX 3050 laptop GPU; analysis + UI on CPU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315200" y="3328416"/>
            <a:ext cx="1417320" cy="512064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0" y="3959352"/>
            <a:ext cx="6766560" cy="512064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2648" y="4023360"/>
            <a:ext cx="4389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Demo hosting (optional)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Streamlit Community Cloud free tier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315200" y="3959352"/>
            <a:ext cx="1417320" cy="512064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11480" y="4608576"/>
            <a:ext cx="8321040" cy="347471"/>
          </a:xfrm>
          <a:prstGeom prst="roundRect">
            <a:avLst>
              <a:gd name="adj" fmla="val 6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TOTAL ESTIMATED COST   </a:t>
            </a:r>
            <a:r>
              <a:rPr sz="1700" b="1">
                <a:solidFill>
                  <a:srgbClr val="F26522"/>
                </a:solidFill>
                <a:latin typeface="Segoe UI"/>
              </a:rPr>
              <a:t>≈  ₹0 / negligible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 title="wswswswdwdw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