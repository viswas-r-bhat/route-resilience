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Google Sans Medium" panose="020B0604020202020204" charset="0"/>
      <p:regular r:id="rId17"/>
      <p:bold r:id="rId18"/>
      <p:italic r:id="rId19"/>
      <p:bold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  <p:embeddedFont>
      <p:font typeface="Segoe UI Semibold" panose="020B0702040204020203" pitchFamily="34" charset="0"/>
      <p:bold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527AD8-528C-479E-89FB-B0938294AFDE}" v="6" dt="2026-06-28T07:45:36.739"/>
  </p1510:revLst>
</p1510:revInfo>
</file>

<file path=ppt/tableStyles.xml><?xml version="1.0" encoding="utf-8"?>
<a:tblStyleLst xmlns:a="http://schemas.openxmlformats.org/drawingml/2006/main" def="{E2873B31-D759-4C72-88C0-AE5C199AA5C8}">
  <a:tblStyle styleId="{E2873B31-D759-4C72-88C0-AE5C199AA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was R Bhat" userId="f1609c25d7b82af6" providerId="LiveId" clId="{C6F2DDD3-A915-4187-89AE-169510C8B55A}"/>
    <pc:docChg chg="undo custSel modSld">
      <pc:chgData name="Viswas R Bhat" userId="f1609c25d7b82af6" providerId="LiveId" clId="{C6F2DDD3-A915-4187-89AE-169510C8B55A}" dt="2026-06-28T07:49:03.546" v="133" actId="478"/>
      <pc:docMkLst>
        <pc:docMk/>
      </pc:docMkLst>
      <pc:sldChg chg="modSp mod">
        <pc:chgData name="Viswas R Bhat" userId="f1609c25d7b82af6" providerId="LiveId" clId="{C6F2DDD3-A915-4187-89AE-169510C8B55A}" dt="2026-06-28T07:44:17.213" v="6" actId="27636"/>
        <pc:sldMkLst>
          <pc:docMk/>
          <pc:sldMk cId="0" sldId="256"/>
        </pc:sldMkLst>
        <pc:spChg chg="mod">
          <ac:chgData name="Viswas R Bhat" userId="f1609c25d7b82af6" providerId="LiveId" clId="{C6F2DDD3-A915-4187-89AE-169510C8B55A}" dt="2026-06-28T07:44:17.213" v="6" actId="27636"/>
          <ac:spMkLst>
            <pc:docMk/>
            <pc:sldMk cId="0" sldId="256"/>
            <ac:spMk id="56" creationId="{00000000-0000-0000-0000-000000000000}"/>
          </ac:spMkLst>
        </pc:spChg>
      </pc:sldChg>
      <pc:sldChg chg="modSp mod">
        <pc:chgData name="Viswas R Bhat" userId="f1609c25d7b82af6" providerId="LiveId" clId="{C6F2DDD3-A915-4187-89AE-169510C8B55A}" dt="2026-06-28T07:45:48.014" v="73" actId="20577"/>
        <pc:sldMkLst>
          <pc:docMk/>
          <pc:sldMk cId="0" sldId="257"/>
        </pc:sldMkLst>
        <pc:graphicFrameChg chg="mod modGraphic">
          <ac:chgData name="Viswas R Bhat" userId="f1609c25d7b82af6" providerId="LiveId" clId="{C6F2DDD3-A915-4187-89AE-169510C8B55A}" dt="2026-06-28T07:45:48.014" v="73" actId="20577"/>
          <ac:graphicFrameMkLst>
            <pc:docMk/>
            <pc:sldMk cId="0" sldId="257"/>
            <ac:graphicFrameMk id="64" creationId="{00000000-0000-0000-0000-000000000000}"/>
          </ac:graphicFrameMkLst>
        </pc:graphicFrameChg>
      </pc:sldChg>
      <pc:sldChg chg="modSp mod">
        <pc:chgData name="Viswas R Bhat" userId="f1609c25d7b82af6" providerId="LiveId" clId="{C6F2DDD3-A915-4187-89AE-169510C8B55A}" dt="2026-06-28T07:48:27.062" v="132" actId="14100"/>
        <pc:sldMkLst>
          <pc:docMk/>
          <pc:sldMk cId="0" sldId="258"/>
        </pc:sldMkLst>
        <pc:spChg chg="mod">
          <ac:chgData name="Viswas R Bhat" userId="f1609c25d7b82af6" providerId="LiveId" clId="{C6F2DDD3-A915-4187-89AE-169510C8B55A}" dt="2026-06-28T07:47:13.108" v="94" actId="1076"/>
          <ac:spMkLst>
            <pc:docMk/>
            <pc:sldMk cId="0" sldId="258"/>
            <ac:spMk id="72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7:16.543" v="95" actId="1076"/>
          <ac:spMkLst>
            <pc:docMk/>
            <pc:sldMk cId="0" sldId="258"/>
            <ac:spMk id="73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8:10.652" v="129" actId="14100"/>
          <ac:spMkLst>
            <pc:docMk/>
            <pc:sldMk cId="0" sldId="258"/>
            <ac:spMk id="74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7:25.468" v="97" actId="14100"/>
          <ac:spMkLst>
            <pc:docMk/>
            <pc:sldMk cId="0" sldId="258"/>
            <ac:spMk id="75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7:57.554" v="126" actId="14100"/>
          <ac:spMkLst>
            <pc:docMk/>
            <pc:sldMk cId="0" sldId="258"/>
            <ac:spMk id="76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7:51.981" v="125" actId="20577"/>
          <ac:spMkLst>
            <pc:docMk/>
            <pc:sldMk cId="0" sldId="258"/>
            <ac:spMk id="77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8:27.062" v="132" actId="14100"/>
          <ac:spMkLst>
            <pc:docMk/>
            <pc:sldMk cId="0" sldId="258"/>
            <ac:spMk id="78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8:19.516" v="130" actId="1076"/>
          <ac:spMkLst>
            <pc:docMk/>
            <pc:sldMk cId="0" sldId="258"/>
            <ac:spMk id="79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7:20.085" v="96" actId="1076"/>
          <ac:spMkLst>
            <pc:docMk/>
            <pc:sldMk cId="0" sldId="258"/>
            <ac:spMk id="82" creationId="{00000000-0000-0000-0000-000000000000}"/>
          </ac:spMkLst>
        </pc:spChg>
      </pc:sldChg>
      <pc:sldChg chg="modSp mod">
        <pc:chgData name="Viswas R Bhat" userId="f1609c25d7b82af6" providerId="LiveId" clId="{C6F2DDD3-A915-4187-89AE-169510C8B55A}" dt="2026-06-28T07:46:16.944" v="89" actId="1035"/>
        <pc:sldMkLst>
          <pc:docMk/>
          <pc:sldMk cId="0" sldId="259"/>
        </pc:sldMkLst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80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84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88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92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96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100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104" creationId="{00000000-0000-0000-0000-000000000000}"/>
          </ac:spMkLst>
        </pc:spChg>
        <pc:spChg chg="mod">
          <ac:chgData name="Viswas R Bhat" userId="f1609c25d7b82af6" providerId="LiveId" clId="{C6F2DDD3-A915-4187-89AE-169510C8B55A}" dt="2026-06-28T07:46:16.944" v="89" actId="1035"/>
          <ac:spMkLst>
            <pc:docMk/>
            <pc:sldMk cId="0" sldId="259"/>
            <ac:spMk id="108" creationId="{00000000-0000-0000-0000-000000000000}"/>
          </ac:spMkLst>
        </pc:spChg>
      </pc:sldChg>
      <pc:sldChg chg="delSp mod">
        <pc:chgData name="Viswas R Bhat" userId="f1609c25d7b82af6" providerId="LiveId" clId="{C6F2DDD3-A915-4187-89AE-169510C8B55A}" dt="2026-06-28T07:49:03.546" v="133" actId="478"/>
        <pc:sldMkLst>
          <pc:docMk/>
          <pc:sldMk cId="0" sldId="262"/>
        </pc:sldMkLst>
        <pc:spChg chg="del">
          <ac:chgData name="Viswas R Bhat" userId="f1609c25d7b82af6" providerId="LiveId" clId="{C6F2DDD3-A915-4187-89AE-169510C8B55A}" dt="2026-06-28T07:49:03.546" v="133" actId="478"/>
          <ac:spMkLst>
            <pc:docMk/>
            <pc:sldMk cId="0" sldId="262"/>
            <ac:spMk id="12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800" b="1">
                <a:solidFill>
                  <a:srgbClr val="14233D"/>
                </a:solidFill>
                <a:latin typeface="Segoe UI Semibold"/>
              </a:rPr>
              <a:t>Team Name :  </a:t>
            </a:r>
            <a:r>
              <a:rPr sz="1800" b="0">
                <a:solidFill>
                  <a:srgbClr val="D44E12"/>
                </a:solidFill>
                <a:latin typeface="Segoe UI"/>
              </a:rPr>
              <a:t>Escape the Matrix</a:t>
            </a:r>
            <a:endParaRPr sz="1600" b="0" i="0" u="none" strike="noStrike" cap="non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250" b="1">
                <a:solidFill>
                  <a:srgbClr val="14233D"/>
                </a:solidFill>
                <a:latin typeface="Segoe UI Semibold"/>
              </a:rPr>
              <a:t>Problem Statement :  </a:t>
            </a:r>
            <a:r>
              <a:rPr sz="1250" b="0">
                <a:solidFill>
                  <a:srgbClr val="0F1B2D"/>
                </a:solidFill>
                <a:latin typeface="Segoe UI"/>
              </a:rPr>
              <a:t>PS-4  ·  Route Resilience — Occlusion-Robust Road Extraction &amp; Graph-Theoretic Criticality Analysis</a:t>
            </a:r>
            <a:endParaRPr sz="1600" b="0" i="0" u="none" strike="noStrike" cap="non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>
                <a:solidFill>
                  <a:srgbClr val="14233D"/>
                </a:solidFill>
                <a:latin typeface="Segoe UI Semibold"/>
              </a:rPr>
              <a:t>Team Leader Name :  </a:t>
            </a:r>
            <a:r>
              <a:rPr sz="1600" b="0">
                <a:solidFill>
                  <a:srgbClr val="D44E12"/>
                </a:solidFill>
                <a:latin typeface="Segoe UI"/>
              </a:rPr>
              <a:t>Viswas R Bhat</a:t>
            </a:r>
            <a:endParaRPr sz="1600" b="0" i="0" u="none" strike="noStrike" cap="non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lang="en-GB" sz="2050" b="0" i="0" u="none" strike="noStrike" cap="non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sz="2050" b="0" i="0" u="none" strike="noStrike" cap="non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>
            <p:extLst>
              <p:ext uri="{D42A27DB-BD31-4B8C-83A1-F6EECF244321}">
                <p14:modId xmlns:p14="http://schemas.microsoft.com/office/powerpoint/2010/main" val="3442779535"/>
              </p:ext>
            </p:extLst>
          </p:nvPr>
        </p:nvGraphicFramePr>
        <p:xfrm>
          <a:off x="1011508" y="1360812"/>
          <a:ext cx="6991533" cy="3108930"/>
        </p:xfrm>
        <a:graphic>
          <a:graphicData uri="http://schemas.openxmlformats.org/drawingml/2006/table">
            <a:tbl>
              <a:tblPr>
                <a:noFill/>
                <a:tableStyleId>{E2873B31-D759-4C72-88C0-AE5C199AA5C8}</a:tableStyleId>
              </a:tblPr>
              <a:tblGrid>
                <a:gridCol w="6783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4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600" b="1" dirty="0">
                          <a:solidFill>
                            <a:srgbClr val="F26522"/>
                          </a:solidFill>
                          <a:latin typeface="Segoe UI Semibold"/>
                        </a:rPr>
                        <a:t>Team Member -1 </a:t>
                      </a:r>
                      <a:endParaRPr lang="en-US" sz="1600" u="none" strike="noStrike" cap="none" dirty="0"/>
                    </a:p>
                    <a:p>
                      <a:r>
                        <a:rPr lang="en-US"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lang="en-US" sz="1600" dirty="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lang="en-US"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lang="en-US" sz="1600" dirty="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  <a:p>
                      <a:endParaRPr lang="en-IN" sz="1600" b="1" dirty="0">
                        <a:solidFill>
                          <a:srgbClr val="F26522"/>
                        </a:solidFill>
                        <a:latin typeface="Segoe UI Semibold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600" b="1" dirty="0">
                          <a:solidFill>
                            <a:srgbClr val="F26522"/>
                          </a:solidFill>
                          <a:latin typeface="Segoe UI Semibold"/>
                        </a:rPr>
                        <a:t>Team Member-2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600" dirty="0">
                          <a:solidFill>
                            <a:srgbClr val="0F1B2D"/>
                          </a:solidFill>
                          <a:latin typeface="Segoe UI"/>
                        </a:rPr>
                        <a:t>Mayank Kumar Singh</a:t>
                      </a:r>
                    </a:p>
                    <a:p>
                      <a:r>
                        <a:rPr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600" dirty="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  <a:endParaRPr lang="en-IN" sz="1600" dirty="0">
                        <a:solidFill>
                          <a:srgbClr val="5A6472"/>
                        </a:solidFill>
                        <a:latin typeface="Segoe UI"/>
                      </a:endParaRPr>
                    </a:p>
                    <a:p>
                      <a:endParaRPr lang="en-IN" sz="1600" dirty="0">
                        <a:solidFill>
                          <a:srgbClr val="5A6472"/>
                        </a:solidFill>
                        <a:latin typeface="Segoe U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600" b="1" dirty="0">
                          <a:solidFill>
                            <a:srgbClr val="F26522"/>
                          </a:solidFill>
                          <a:latin typeface="Segoe UI Semibold"/>
                        </a:rPr>
                        <a:t>Team Member -3</a:t>
                      </a:r>
                      <a:endParaRPr lang="en-US" sz="1600" u="none" strike="noStrike" cap="none" dirty="0"/>
                    </a:p>
                    <a:p>
                      <a:r>
                        <a:rPr lang="en-US"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lang="en-US" sz="1600" dirty="0">
                          <a:solidFill>
                            <a:srgbClr val="0F1B2D"/>
                          </a:solidFill>
                          <a:latin typeface="Segoe UI"/>
                        </a:rPr>
                        <a:t>Dibyansh Raj</a:t>
                      </a:r>
                    </a:p>
                    <a:p>
                      <a:r>
                        <a:rPr lang="en-US" sz="1600" b="1" dirty="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lang="en-US" sz="1600" dirty="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  <a:p>
                      <a:endParaRPr sz="1600" dirty="0">
                        <a:solidFill>
                          <a:srgbClr val="5A6472"/>
                        </a:solidFill>
                        <a:latin typeface="Segoe U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sz="1600" dirty="0">
                        <a:solidFill>
                          <a:srgbClr val="5A6472"/>
                        </a:solidFill>
                        <a:latin typeface="Segoe UI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Rounded Rectangle 6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Opportunity &amp; Unique Selling Proposition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1335024"/>
            <a:ext cx="8321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 dirty="0">
                <a:solidFill>
                  <a:srgbClr val="14233D"/>
                </a:solidFill>
                <a:latin typeface="Segoe UI"/>
              </a:rPr>
              <a:t>The gap:  </a:t>
            </a:r>
            <a:r>
              <a:rPr sz="1250" b="0" dirty="0">
                <a:solidFill>
                  <a:srgbClr val="5A6472"/>
                </a:solidFill>
                <a:latin typeface="Segoe UI"/>
              </a:rPr>
              <a:t>Satellite road extraction suffers “spectral blindness” — tree canopy, building shadows and clouds break the mask, leaving it topologically disconnected and useless for routing, traffic or disaster response.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182733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How we are different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2207544"/>
            <a:ext cx="90524" cy="654528"/>
          </a:xfrm>
          <a:prstGeom prst="roundRect">
            <a:avLst>
              <a:gd name="adj" fmla="val 3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12647" y="2207544"/>
            <a:ext cx="4131259" cy="659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dirty="0">
                <a:solidFill>
                  <a:srgbClr val="14233D"/>
                </a:solidFill>
                <a:latin typeface="Segoe UI"/>
              </a:rPr>
              <a:t>Occlusion-robust extraction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 dirty="0">
                <a:solidFill>
                  <a:srgbClr val="5A6472"/>
                </a:solidFill>
                <a:latin typeface="Segoe UI"/>
              </a:rPr>
              <a:t>Multi-scale inference + canopy-aware hysteresis grow faint roads from confident seeds — recovering streets missed at native scale and segments deep under tree cover.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2935223"/>
            <a:ext cx="91440" cy="579729"/>
          </a:xfrm>
          <a:prstGeom prst="roundRect">
            <a:avLst>
              <a:gd name="adj" fmla="val 3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12648" y="2916936"/>
            <a:ext cx="4224528" cy="659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dirty="0">
                <a:solidFill>
                  <a:srgbClr val="14233D"/>
                </a:solidFill>
                <a:latin typeface="Segoe UI"/>
              </a:rPr>
              <a:t>Evidence-based topological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 dirty="0">
                <a:solidFill>
                  <a:srgbClr val="5A6472"/>
                </a:solidFill>
                <a:latin typeface="Segoe UI"/>
              </a:rPr>
              <a:t>Union-Find bridges gaps — endpoint-pairs AND mid-edge T-junctions — only where evidence agrees the road continues: the model's sub-threshold confidence, an Excess-Green canopy mask and trajectory alignment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84448"/>
            <a:ext cx="90524" cy="526694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2648" y="3610416"/>
            <a:ext cx="395935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dirty="0">
                <a:solidFill>
                  <a:srgbClr val="14233D"/>
                </a:solidFill>
                <a:latin typeface="Segoe UI"/>
              </a:rPr>
              <a:t>Predictive resilience: failure &amp; flood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 dirty="0">
                <a:solidFill>
                  <a:srgbClr val="5A6472"/>
                </a:solidFill>
                <a:latin typeface="Segoe UI"/>
              </a:rPr>
              <a:t>Weighted-betweenness ablation, DEM flood-submersion and demand-weighted criticality quantify systemic collapse.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4233672"/>
            <a:ext cx="91440" cy="493776"/>
          </a:xfrm>
          <a:prstGeom prst="roundRect">
            <a:avLst>
              <a:gd name="adj" fmla="val 3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12648" y="4215384"/>
            <a:ext cx="395935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dirty="0">
                <a:solidFill>
                  <a:srgbClr val="14233D"/>
                </a:solidFill>
                <a:latin typeface="Segoe UI"/>
              </a:rPr>
              <a:t>Validated against OSM ground truth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 dirty="0">
                <a:solidFill>
                  <a:srgbClr val="5A6472"/>
                </a:solidFill>
                <a:latin typeface="Segoe UI"/>
              </a:rPr>
              <a:t>A topological-accuracy benchmark scores the graph vs OpenStreetMap: recall, path-length error and routing match.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1827336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dirty="0">
                <a:solidFill>
                  <a:srgbClr val="2E6FE0"/>
                </a:solidFill>
                <a:latin typeface="Segoe UI Semibold"/>
              </a:rPr>
              <a:t>Broken mask  →  Healed routable network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9204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892040" y="4398264"/>
            <a:ext cx="1691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D63B3B"/>
                </a:solidFill>
                <a:latin typeface="Segoe UI"/>
              </a:rPr>
              <a:t>Standard extraction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75377" y="2768803"/>
            <a:ext cx="515264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11469" y="2955340"/>
            <a:ext cx="588873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296204" y="3421684"/>
            <a:ext cx="368046" cy="559613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885078" y="3514953"/>
            <a:ext cx="0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75377" y="3888028"/>
            <a:ext cx="368046" cy="37308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32296" y="2675534"/>
            <a:ext cx="29444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04088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040880" y="4398264"/>
            <a:ext cx="1691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2A594"/>
                </a:solidFill>
                <a:latin typeface="Segoe UI"/>
              </a:rPr>
              <a:t>Route Resilience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371435" y="2768803"/>
            <a:ext cx="515265" cy="93269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6700" y="2768803"/>
            <a:ext cx="515264" cy="18653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71435" y="2862072"/>
            <a:ext cx="147219" cy="652881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6700" y="2768803"/>
            <a:ext cx="73609" cy="78345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328355" y="2955340"/>
            <a:ext cx="73609" cy="93268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518654" y="3514953"/>
            <a:ext cx="441655" cy="3730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960309" y="3552261"/>
            <a:ext cx="368046" cy="33576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445044" y="3514953"/>
            <a:ext cx="73610" cy="559613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7445044" y="3552261"/>
            <a:ext cx="515265" cy="522305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7334859" y="2825496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7850124" y="273222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8365388" y="2918764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482078" y="347837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907274" y="3499225"/>
            <a:ext cx="106070" cy="106070"/>
          </a:xfrm>
          <a:prstGeom prst="ellipse">
            <a:avLst/>
          </a:prstGeom>
          <a:solidFill>
            <a:srgbClr val="D63B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8291779" y="3851452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08468" y="4037990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9" name="Connector 108"/>
          <p:cNvCxnSpPr/>
          <p:nvPr/>
        </p:nvCxnSpPr>
        <p:spPr>
          <a:xfrm>
            <a:off x="6638544" y="3328415"/>
            <a:ext cx="347472" cy="0"/>
          </a:xfrm>
          <a:prstGeom prst="line">
            <a:avLst/>
          </a:prstGeom>
          <a:ln w="31750">
            <a:solidFill>
              <a:srgbClr val="F265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Rounded Rectangle 7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Key Features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557784" y="1609344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59422" y="1612764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" y="1481328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segmentation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U-Net/ResNet34 + multi-scale inference &amp; canopy-aware hysteresis recover roads under canopy, shadow, and below the 1x receptive field.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916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4855464" y="1609344"/>
            <a:ext cx="329184" cy="329184"/>
          </a:xfrm>
          <a:prstGeom prst="ellipse">
            <a:avLst/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857102" y="1612764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1481328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reconstruction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Skeletonize → graph → Union-Find healing yields a routable weighted vector network.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557784" y="2542032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59422" y="2545452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6696" y="2414016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gap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Endpoint + mid-edge T-junction bridges gated by model soft-confidence, Excess-Green canopy &amp; trajectory — each tagged high/med/low.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6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855464" y="2542032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857102" y="2545452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94376" y="2414016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Gatekeeper-node detection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Weighted betweenness (k-sampled at scale) maps critical intersections &amp; weakest links.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557784" y="3474720"/>
            <a:ext cx="329184" cy="329184"/>
          </a:xfrm>
          <a:prstGeom prst="ellipse">
            <a:avLst/>
          </a:prstGeom>
          <a:solidFill>
            <a:srgbClr val="D6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59422" y="3478140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" y="3346704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Flood &amp; failure stress-test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DEM-driven flood submersion + node ablation drive a live Resilience Index.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0916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4855464" y="3474720"/>
            <a:ext cx="329184" cy="329184"/>
          </a:xfrm>
          <a:prstGeom prst="ellipse">
            <a:avLst/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857102" y="3478140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94376" y="3346704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Demand-weighted criticality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Betweenness × local road-density surfaces nodes whose failure strands real travel.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57784" y="4407408"/>
            <a:ext cx="329184" cy="329184"/>
          </a:xfrm>
          <a:prstGeom prst="ellipse">
            <a:avLst/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59422" y="4410828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6696" y="4279392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OSM validation 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Graph scored vs OpenStreetMap: recall, path-length error &amp; routing match.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70916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4855464" y="4407408"/>
            <a:ext cx="329184" cy="329184"/>
          </a:xfrm>
          <a:prstGeom prst="ellipse">
            <a:avLst/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857102" y="4410828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94376" y="4279392"/>
            <a:ext cx="33101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interactive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Custom Leaflet + Three.js (WebGL) UI — search any place for live GPU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Rounded Rectangle 81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Process Flow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Imagery → extraction → skeleton/graph → canopy-aware healing → resilience → OSM validation → dashboard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636621" y="1655064"/>
            <a:ext cx="5870757" cy="33649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86" name="Picture 85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349" y="1764792"/>
            <a:ext cx="5651301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Rounded Rectangle 87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Live Dashboard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Premium dark UI · Leaflet + Three.js (WebGL) · live GPU backend · search any place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1664208"/>
            <a:ext cx="8321040" cy="3291839"/>
          </a:xfrm>
          <a:prstGeom prst="roundRect">
            <a:avLst>
              <a:gd name="adj" fmla="val 3000"/>
            </a:avLst>
          </a:prstGeom>
          <a:solidFill>
            <a:srgbClr val="0B0E14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40080" y="1773936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E6BD"/>
                </a:solidFill>
                <a:latin typeface="Segoe UI Semibold"/>
              </a:rPr>
              <a:t>◉  ROUTE RESILIENCE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18105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B97A7"/>
                </a:solidFill>
                <a:latin typeface="Segoe UI"/>
              </a:rPr>
              <a:t>ISRO BAH 2026 · PS-4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49808" y="2212848"/>
            <a:ext cx="15773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RESILIENCE INDEX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2377439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0.78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2688336"/>
            <a:ext cx="15773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HSR Layout · stable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7462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784348" y="2212848"/>
            <a:ext cx="15773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ROAD NODES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4348" y="2377439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187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4348" y="2688336"/>
            <a:ext cx="15773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healed graph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0916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4818888" y="2212848"/>
            <a:ext cx="15773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CONNECTIVITY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18888" y="2377439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90%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18888" y="2688336"/>
            <a:ext cx="15773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LCC post-healing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4370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6853428" y="2212848"/>
            <a:ext cx="15773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OSM RECALL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3428" y="2377439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C9A84C"/>
                </a:solidFill>
                <a:latin typeface="Consolas"/>
              </a:rPr>
              <a:t>65%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3428" y="2688336"/>
            <a:ext cx="15773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9A84C"/>
                </a:solidFill>
                <a:latin typeface="Segoe UI"/>
              </a:rPr>
              <a:t>vs ground truth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0080" y="3017520"/>
            <a:ext cx="4892040" cy="1773936"/>
          </a:xfrm>
          <a:prstGeom prst="roundRect">
            <a:avLst>
              <a:gd name="adj" fmla="val 4000"/>
            </a:avLst>
          </a:prstGeom>
          <a:solidFill>
            <a:srgbClr val="0E1320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749808" y="30723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8B97A7"/>
                </a:solidFill>
                <a:latin typeface="Segoe UI"/>
              </a:rPr>
              <a:t>CRITICALITY MAP · HSR Layout, Bengaluru</a:t>
            </a:r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75588" y="3486424"/>
            <a:ext cx="1357884" cy="105339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33472" y="3486424"/>
            <a:ext cx="1448409" cy="13167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81881" y="3618097"/>
            <a:ext cx="905256" cy="23701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5588" y="3591763"/>
            <a:ext cx="452628" cy="395020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33472" y="3486424"/>
            <a:ext cx="452628" cy="43452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81881" y="3618097"/>
            <a:ext cx="271577" cy="43452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728216" y="3920947"/>
            <a:ext cx="1357884" cy="65836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86100" y="3920947"/>
            <a:ext cx="1267358" cy="13167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53458" y="3855110"/>
            <a:ext cx="633679" cy="197510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28216" y="3986783"/>
            <a:ext cx="543153" cy="421356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86100" y="3920947"/>
            <a:ext cx="543153" cy="460857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71369" y="4381804"/>
            <a:ext cx="1357884" cy="26335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629253" y="4381804"/>
            <a:ext cx="1176833" cy="65837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353458" y="4052620"/>
            <a:ext cx="452628" cy="395021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44498" y="3560673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2602382" y="345533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4039819" y="3576035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4956048" y="3824020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697126" y="395569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31236" y="3866083"/>
            <a:ext cx="109728" cy="109728"/>
          </a:xfrm>
          <a:prstGeom prst="ellipse">
            <a:avLst/>
          </a:prstGeom>
          <a:solidFill>
            <a:srgbClr val="FF4D4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4311396" y="4010558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240280" y="4377049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598164" y="4350715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4774996" y="4416552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2976372" y="3792931"/>
            <a:ext cx="21945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3017520"/>
            <a:ext cx="2743199" cy="1773936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5888736" y="3090672"/>
            <a:ext cx="2487167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9A84C"/>
                </a:solidFill>
                <a:latin typeface="Segoe UI"/>
              </a:rPr>
              <a:t>GATEKEEPER NODES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870448" y="3310127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980176" y="3310127"/>
            <a:ext cx="192023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#1  N-78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45552" y="33101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0.390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70448" y="3579875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980176" y="3579875"/>
            <a:ext cx="192023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#2  N-73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552" y="3579875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0.312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870448" y="3849624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5980176" y="3849624"/>
            <a:ext cx="192023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#3  N-74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5552" y="384962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0.284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870448" y="4119372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5980176" y="4119372"/>
            <a:ext cx="192023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#4  N-69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45552" y="4119372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0.267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870448" y="4389120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5980176" y="4389120"/>
            <a:ext cx="192023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#5  N-76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45552" y="4389120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00E6BD"/>
                </a:solidFill>
                <a:latin typeface="Consolas"/>
              </a:rPr>
              <a:t>0.265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Solution Architecture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11480" y="1408176"/>
            <a:ext cx="8321040" cy="420624"/>
          </a:xfrm>
          <a:prstGeom prst="roundRect">
            <a:avLst>
              <a:gd name="adj" fmla="val 10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26522"/>
                </a:solidFill>
                <a:latin typeface="Segoe UI"/>
              </a:rPr>
              <a:t>INPUTS   </a:t>
            </a:r>
            <a:r>
              <a:rPr sz="980" b="0">
                <a:solidFill>
                  <a:srgbClr val="FFFFFF"/>
                </a:solidFill>
                <a:latin typeface="Segoe UI"/>
              </a:rPr>
              <a:t>DeepGlobe (training)  ·  Esri World Imagery ~0.6 m (live)  ·  AWS DEM  ·  OpenStreetMap (validation)  ·  NIR-ready for LISS-IV / Cartosat-3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2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411480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P1  </a:t>
            </a:r>
            <a:r>
              <a:rPr sz="1050" b="1">
                <a:solidFill>
                  <a:srgbClr val="FFFFFF"/>
                </a:solidFill>
                <a:latin typeface="Segoe UI"/>
              </a:rPr>
              <a:t>Segmentation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2670048"/>
            <a:ext cx="123261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U-Net + ResNet34 (SMP)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Canopy-aware hysteresis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D4 TTA · occlusion aug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76072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84632" y="3611880"/>
            <a:ext cx="12691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2A594"/>
                </a:solidFill>
                <a:latin typeface="Segoe UI"/>
              </a:rPr>
              <a:t>▸ road mask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37867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2137867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P2  </a:t>
            </a:r>
            <a:r>
              <a:rPr sz="1050" b="1">
                <a:solidFill>
                  <a:srgbClr val="FFFFFF"/>
                </a:solidFill>
                <a:latin typeface="Segoe UI"/>
              </a:rPr>
              <a:t>Skeleton → Graph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29307" y="2670048"/>
            <a:ext cx="123261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Zhang-Suen thinning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sknw graph + spur prune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length-weighted edges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302459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211019" y="3611880"/>
            <a:ext cx="12691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2E6FE0"/>
                </a:solidFill>
                <a:latin typeface="Segoe UI"/>
              </a:rPr>
              <a:t>▸ raw graph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64254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3864254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P3  </a:t>
            </a:r>
            <a:r>
              <a:rPr sz="1050" b="1">
                <a:solidFill>
                  <a:srgbClr val="FFFFFF"/>
                </a:solidFill>
                <a:latin typeface="Segoe UI"/>
              </a:rPr>
              <a:t>Canopy Healing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55694" y="2670048"/>
            <a:ext cx="123261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Union-Find + Excess-Green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Trajectory alignment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Confidence-tiered bridges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028846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937406" y="3611880"/>
            <a:ext cx="12691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7A5C9E"/>
                </a:solidFill>
                <a:latin typeface="Segoe UI"/>
              </a:rPr>
              <a:t>▸ routable graph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590641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5590641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P4  </a:t>
            </a:r>
            <a:r>
              <a:rPr sz="1050" b="1">
                <a:solidFill>
                  <a:srgbClr val="FFFFFF"/>
                </a:solidFill>
                <a:latin typeface="Segoe UI"/>
              </a:rPr>
              <a:t>Resilience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82081" y="2670048"/>
            <a:ext cx="123261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Betweenness (k-sampled)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Flood-DEM + ablation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Demand-weighted crit.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755233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63793" y="3611880"/>
            <a:ext cx="12691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F26522"/>
                </a:solidFill>
                <a:latin typeface="Segoe UI"/>
              </a:rPr>
              <a:t>▸ criticality + RI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7028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F9B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7317028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P5  </a:t>
            </a:r>
            <a:r>
              <a:rPr sz="1050" b="1">
                <a:solidFill>
                  <a:srgbClr val="FFFFFF"/>
                </a:solidFill>
                <a:latin typeface="Segoe UI"/>
              </a:rPr>
              <a:t>Live Dashboard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8468" y="2670048"/>
            <a:ext cx="1232611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Leaflet + Three.js (WebGL)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ECharts · /api/analyze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stdlib Python server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481620" y="3575304"/>
            <a:ext cx="1086308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390180" y="3611880"/>
            <a:ext cx="12691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F9BD1"/>
                </a:solidFill>
                <a:latin typeface="Segoe UI"/>
              </a:rPr>
              <a:t>▸ live planner UI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845259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1646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298033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24420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138988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39496" y="1389888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&amp; Imagery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95728" y="1487424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2441448" y="1487424"/>
            <a:ext cx="53903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NumPy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126790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172510" y="1487424"/>
            <a:ext cx="61027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OpenCV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29085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974805" y="1487424"/>
            <a:ext cx="61027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Pillow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31379" y="1487424"/>
            <a:ext cx="127156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777099" y="1487424"/>
            <a:ext cx="118012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Albumentations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03528" y="1487424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149248" y="1487424"/>
            <a:ext cx="1536283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Web-Mercator tiling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2005584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39496" y="2005584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Segmentation (DL)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395728" y="2103120"/>
            <a:ext cx="69716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2441448" y="2103120"/>
            <a:ext cx="605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05" b="0">
                <a:solidFill>
                  <a:srgbClr val="14233D"/>
                </a:solidFill>
                <a:latin typeface="Segoe UI"/>
              </a:rPr>
              <a:t>PyTorch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138608" y="2103120"/>
            <a:ext cx="14824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3184328" y="2103120"/>
            <a:ext cx="139099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05" b="0">
                <a:solidFill>
                  <a:srgbClr val="14233D"/>
                </a:solidFill>
                <a:latin typeface="Segoe UI"/>
              </a:rPr>
              <a:t>SMP · U-Net/ResNet34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66764" y="2103120"/>
            <a:ext cx="63675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712484" y="2103120"/>
            <a:ext cx="54531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05" b="0">
                <a:solidFill>
                  <a:srgbClr val="14233D"/>
                </a:solidFill>
                <a:latin typeface="Segoe UI"/>
              </a:rPr>
              <a:t>D4 TTA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349238" y="2103120"/>
            <a:ext cx="154284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5394958" y="2103120"/>
            <a:ext cx="1451401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05" b="0">
                <a:solidFill>
                  <a:srgbClr val="14233D"/>
                </a:solidFill>
                <a:latin typeface="Segoe UI"/>
              </a:rPr>
              <a:t>Mixed-Precision (AMP)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937800" y="2103120"/>
            <a:ext cx="184487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6983520" y="2103120"/>
            <a:ext cx="175343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05" b="0">
                <a:solidFill>
                  <a:srgbClr val="14233D"/>
                </a:solidFill>
                <a:latin typeface="Segoe UI"/>
              </a:rPr>
              <a:t>Dice+BCE+Connectivity loss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11480" y="2621280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39496" y="2621280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Skeleton &amp; Graph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395728" y="2718816"/>
            <a:ext cx="205511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441448" y="2718816"/>
            <a:ext cx="196367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scikit-image · Zhang-Suen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51426" y="2718816"/>
            <a:ext cx="55924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597146" y="2718816"/>
            <a:ext cx="467807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sknw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211257" y="2718816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256977" y="2718816"/>
            <a:ext cx="75273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NetworkX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56015" y="2718816"/>
            <a:ext cx="120033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01735" y="2718816"/>
            <a:ext cx="110889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SciPy cKDTree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1480" y="3236976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39496" y="3236976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Resilience &amp; Analysis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395728" y="3334512"/>
            <a:ext cx="181431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441448" y="3334512"/>
            <a:ext cx="1722877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Betweenness (k-sampled)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282639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328359" y="3334512"/>
            <a:ext cx="138809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Union-Find healing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34768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880488" y="3334512"/>
            <a:ext cx="138809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Flood-DEM ablation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86897" y="3334512"/>
            <a:ext cx="134562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32617" y="3334512"/>
            <a:ext cx="125418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Demand weighting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3852671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39496" y="3852671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Dashboard &amp; Backend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39572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441448" y="3950207"/>
            <a:ext cx="864961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Vanilla JS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3388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3479608" y="3950207"/>
            <a:ext cx="864961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Leaflet.js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72049" y="3950207"/>
            <a:ext cx="13656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4517769" y="3950207"/>
            <a:ext cx="127421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Three.js (WebGL)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919459" y="3950207"/>
            <a:ext cx="12292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5965179" y="3950207"/>
            <a:ext cx="113779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Apache ECharts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0453" y="3950207"/>
            <a:ext cx="150206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7276173" y="3950207"/>
            <a:ext cx="141062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Python http.server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1480" y="446836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39496" y="4468368"/>
            <a:ext cx="1581912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Sources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95728" y="4565904"/>
            <a:ext cx="128458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2441448" y="4565904"/>
            <a:ext cx="1193141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Esri World Imagery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726029" y="4565904"/>
            <a:ext cx="16213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3771749" y="4565904"/>
            <a:ext cx="1529894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OpenStreetMap / Overpass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393084" y="4565904"/>
            <a:ext cx="66719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5438804" y="4565904"/>
            <a:ext cx="57575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AWS DEM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106003" y="4565904"/>
            <a:ext cx="7794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151723" y="4565904"/>
            <a:ext cx="68801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DeepGlobe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931174" y="4565904"/>
            <a:ext cx="19580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6976894" y="4565904"/>
            <a:ext cx="186664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LISS-IV / Cartosat (NIR-ready)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Rounded Rectangle 10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Honest Cost Breakdown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Open data &amp; open source — the only real recurring cost is the GPU that powers live inference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143560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12648" y="14996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Satellite &amp; map imagery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Esri tiles · OpenStreetMap / Overpass · AWS DEM — open, no API key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0" y="1435608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80" y="201625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12648" y="208026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Training &amp; validation data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DeepGlobe (training) · OpenStreetMap (validation) — open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15200" y="2016252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259689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12648" y="2660903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Model training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One-time, a few GPU-hours on the team's own laptop GPU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5200" y="259689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80" y="3177539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12648" y="3241547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inference — GPU backend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≈ 50 s / scene; cloud GPU ≈ ₹1–2 per scene, or ₹0 on an owned GPU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15200" y="3177539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≈₹1–2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0" y="3758183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612648" y="3822191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Static dashboard hosting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Vanilla-JS bundle on Vercel / Netlify free tier — no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315200" y="3758183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11480" y="4357115"/>
            <a:ext cx="8321040" cy="598932"/>
          </a:xfrm>
          <a:prstGeom prst="roundRect">
            <a:avLst>
              <a:gd name="adj" fmla="val 6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DEV &amp; DEMO   </a:t>
            </a:r>
            <a:r>
              <a:rPr sz="1800" b="1">
                <a:solidFill>
                  <a:srgbClr val="F26522"/>
                </a:solidFill>
                <a:latin typeface="Segoe UI"/>
              </a:rPr>
              <a:t>≈  ₹0</a:t>
            </a:r>
            <a:r>
              <a:rPr sz="1100" b="0">
                <a:solidFill>
                  <a:srgbClr val="EAF0F7"/>
                </a:solidFill>
                <a:latin typeface="Segoe UI"/>
              </a:rPr>
              <a:t>   ·   open data · owned GPU · free static hosting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At scale the only recurring cost is the GPU for live inference — ≈ ₹1–2 per analysed scene on a cloud GPU, ₹0 on owned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865</Words>
  <Application>Microsoft Office PowerPoint</Application>
  <PresentationFormat>On-screen Show (16:9)</PresentationFormat>
  <Paragraphs>166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Google Sans Medium</vt:lpstr>
      <vt:lpstr>Segoe UI Semibold</vt:lpstr>
      <vt:lpstr>Segoe UI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Viswas R Bhat</cp:lastModifiedBy>
  <cp:revision>1</cp:revision>
  <dcterms:modified xsi:type="dcterms:W3CDTF">2026-06-28T07:49:03Z</dcterms:modified>
</cp:coreProperties>
</file>